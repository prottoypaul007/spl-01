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0.svg" ContentType="image/svg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.svg" ContentType="image/svg+xml"/>
  <Override PartName="/ppt/media/image21.svg" ContentType="image/svg+xml"/>
  <Override PartName="/ppt/media/image23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8288000" cy="10287000"/>
  <p:notesSz cx="6858000" cy="9144000"/>
  <p:embeddedFontLst>
    <p:embeddedFont>
      <p:font typeface="Oswald" panose="00000500000000000000"/>
      <p:regular r:id="rId17"/>
    </p:embeddedFont>
    <p:embeddedFont>
      <p:font typeface="TT Hoves" panose="02000003020000060003"/>
      <p:regular r:id="rId18"/>
    </p:embeddedFont>
    <p:embeddedFont>
      <p:font typeface="TT Hoves Bold" panose="02000003020000060003"/>
      <p:bold r:id="rId19"/>
    </p:embeddedFont>
    <p:embeddedFont>
      <p:font typeface="Roboto Bold" panose="02000000000000000000"/>
      <p:bold r:id="rId20"/>
    </p:embeddedFont>
    <p:embeddedFont>
      <p:font typeface="Roboto" panose="02000000000000000000"/>
      <p:regular r:id="rId21"/>
    </p:embeddedFont>
    <p:embeddedFont>
      <p:font typeface="Calibri" panose="020F0502020204030204" charset="0"/>
      <p:regular r:id="rId22"/>
      <p:bold r:id="rId23"/>
      <p:italic r:id="rId24"/>
      <p:boldItalic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font" Target="fonts/font9.fntdata"/><Relationship Id="rId24" Type="http://schemas.openxmlformats.org/officeDocument/2006/relationships/font" Target="fonts/font8.fntdata"/><Relationship Id="rId23" Type="http://schemas.openxmlformats.org/officeDocument/2006/relationships/font" Target="fonts/font7.fntdata"/><Relationship Id="rId22" Type="http://schemas.openxmlformats.org/officeDocument/2006/relationships/font" Target="fonts/font6.fntdata"/><Relationship Id="rId21" Type="http://schemas.openxmlformats.org/officeDocument/2006/relationships/font" Target="fonts/font5.fntdata"/><Relationship Id="rId20" Type="http://schemas.openxmlformats.org/officeDocument/2006/relationships/font" Target="fonts/font4.fntdata"/><Relationship Id="rId2" Type="http://schemas.openxmlformats.org/officeDocument/2006/relationships/theme" Target="theme/theme1.xml"/><Relationship Id="rId19" Type="http://schemas.openxmlformats.org/officeDocument/2006/relationships/font" Target="fonts/font3.fntdata"/><Relationship Id="rId18" Type="http://schemas.openxmlformats.org/officeDocument/2006/relationships/font" Target="fonts/font2.fntdata"/><Relationship Id="rId17" Type="http://schemas.openxmlformats.org/officeDocument/2006/relationships/font" Target="fonts/font1.fntdata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E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png"/><Relationship Id="rId8" Type="http://schemas.openxmlformats.org/officeDocument/2006/relationships/image" Target="../media/image13.svg"/><Relationship Id="rId7" Type="http://schemas.openxmlformats.org/officeDocument/2006/relationships/image" Target="../media/image12.png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9" Type="http://schemas.openxmlformats.org/officeDocument/2006/relationships/slideLayout" Target="../slideLayouts/slideLayout7.xml"/><Relationship Id="rId18" Type="http://schemas.openxmlformats.org/officeDocument/2006/relationships/image" Target="../media/image23.svg"/><Relationship Id="rId17" Type="http://schemas.openxmlformats.org/officeDocument/2006/relationships/image" Target="../media/image22.png"/><Relationship Id="rId16" Type="http://schemas.openxmlformats.org/officeDocument/2006/relationships/image" Target="../media/image21.svg"/><Relationship Id="rId15" Type="http://schemas.openxmlformats.org/officeDocument/2006/relationships/image" Target="../media/image20.png"/><Relationship Id="rId14" Type="http://schemas.openxmlformats.org/officeDocument/2006/relationships/image" Target="../media/image19.svg"/><Relationship Id="rId13" Type="http://schemas.openxmlformats.org/officeDocument/2006/relationships/image" Target="../media/image18.png"/><Relationship Id="rId12" Type="http://schemas.openxmlformats.org/officeDocument/2006/relationships/image" Target="../media/image17.svg"/><Relationship Id="rId11" Type="http://schemas.openxmlformats.org/officeDocument/2006/relationships/image" Target="../media/image16.png"/><Relationship Id="rId10" Type="http://schemas.openxmlformats.org/officeDocument/2006/relationships/image" Target="../media/image15.svg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072328" y="-1099342"/>
            <a:ext cx="10863067" cy="12485684"/>
          </a:xfrm>
          <a:custGeom>
            <a:avLst/>
            <a:gdLst/>
            <a:ahLst/>
            <a:cxnLst/>
            <a:rect l="l" t="t" r="r" b="b"/>
            <a:pathLst>
              <a:path w="10863067" h="12485684">
                <a:moveTo>
                  <a:pt x="0" y="0"/>
                </a:moveTo>
                <a:lnTo>
                  <a:pt x="10863067" y="0"/>
                </a:lnTo>
                <a:lnTo>
                  <a:pt x="10863067" y="12485684"/>
                </a:lnTo>
                <a:lnTo>
                  <a:pt x="0" y="12485684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16821" b="-2278"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1028700" y="5143500"/>
            <a:ext cx="478062" cy="478062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E2817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6" name="Freeform 6"/>
          <p:cNvSpPr/>
          <p:nvPr/>
        </p:nvSpPr>
        <p:spPr>
          <a:xfrm>
            <a:off x="2730072" y="1883970"/>
            <a:ext cx="2329715" cy="2245263"/>
          </a:xfrm>
          <a:custGeom>
            <a:avLst/>
            <a:gdLst/>
            <a:ahLst/>
            <a:cxnLst/>
            <a:rect l="l" t="t" r="r" b="b"/>
            <a:pathLst>
              <a:path w="2329715" h="2245263">
                <a:moveTo>
                  <a:pt x="0" y="0"/>
                </a:moveTo>
                <a:lnTo>
                  <a:pt x="2329715" y="0"/>
                </a:lnTo>
                <a:lnTo>
                  <a:pt x="2329715" y="2245262"/>
                </a:lnTo>
                <a:lnTo>
                  <a:pt x="0" y="22452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858656" y="6428789"/>
            <a:ext cx="2072547" cy="2190274"/>
          </a:xfrm>
          <a:custGeom>
            <a:avLst/>
            <a:gdLst/>
            <a:ahLst/>
            <a:cxnLst/>
            <a:rect l="l" t="t" r="r" b="b"/>
            <a:pathLst>
              <a:path w="2072547" h="2190274">
                <a:moveTo>
                  <a:pt x="0" y="0"/>
                </a:moveTo>
                <a:lnTo>
                  <a:pt x="2072547" y="0"/>
                </a:lnTo>
                <a:lnTo>
                  <a:pt x="2072547" y="2190274"/>
                </a:lnTo>
                <a:lnTo>
                  <a:pt x="0" y="21902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6266556" y="2342477"/>
            <a:ext cx="12021444" cy="4833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70"/>
              </a:lnSpc>
            </a:pPr>
            <a:r>
              <a:rPr lang="en-US" sz="5405">
                <a:solidFill>
                  <a:srgbClr val="000000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rPr>
              <a:t>Project Title: Combinatorial Optimization Solver</a:t>
            </a:r>
            <a:endParaRPr lang="en-US" sz="5405">
              <a:solidFill>
                <a:srgbClr val="000000"/>
              </a:solidFill>
              <a:latin typeface="Oswald" panose="00000500000000000000"/>
              <a:ea typeface="Oswald" panose="00000500000000000000"/>
              <a:cs typeface="Oswald" panose="00000500000000000000"/>
              <a:sym typeface="Oswald" panose="00000500000000000000"/>
            </a:endParaRPr>
          </a:p>
          <a:p>
            <a:pPr algn="l">
              <a:lnSpc>
                <a:spcPts val="6590"/>
              </a:lnSpc>
            </a:pPr>
            <a:r>
              <a:rPr lang="en-US" sz="4705">
                <a:solidFill>
                  <a:srgbClr val="000000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rPr>
              <a:t>Subtitle: Part 1-Traveling Salesperson Problem (TSP)</a:t>
            </a:r>
            <a:endParaRPr lang="en-US" sz="4705">
              <a:solidFill>
                <a:srgbClr val="000000"/>
              </a:solidFill>
              <a:latin typeface="Oswald" panose="00000500000000000000"/>
              <a:ea typeface="Oswald" panose="00000500000000000000"/>
              <a:cs typeface="Oswald" panose="00000500000000000000"/>
              <a:sym typeface="Oswald" panose="00000500000000000000"/>
            </a:endParaRPr>
          </a:p>
          <a:p>
            <a:pPr algn="l">
              <a:lnSpc>
                <a:spcPts val="6590"/>
              </a:lnSpc>
            </a:pPr>
            <a:r>
              <a:rPr lang="en-US" sz="4705">
                <a:solidFill>
                  <a:srgbClr val="000000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rPr>
              <a:t>Name:  Prottoy Paul</a:t>
            </a:r>
            <a:endParaRPr lang="en-US" sz="4705">
              <a:solidFill>
                <a:srgbClr val="000000"/>
              </a:solidFill>
              <a:latin typeface="Oswald" panose="00000500000000000000"/>
              <a:ea typeface="Oswald" panose="00000500000000000000"/>
              <a:cs typeface="Oswald" panose="00000500000000000000"/>
              <a:sym typeface="Oswald" panose="00000500000000000000"/>
            </a:endParaRPr>
          </a:p>
          <a:p>
            <a:pPr algn="l">
              <a:lnSpc>
                <a:spcPts val="6590"/>
              </a:lnSpc>
            </a:pPr>
            <a:r>
              <a:rPr lang="en-US" sz="4705">
                <a:solidFill>
                  <a:srgbClr val="000000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rPr>
              <a:t>Roll: 1613</a:t>
            </a:r>
            <a:endParaRPr lang="en-US" sz="4705">
              <a:solidFill>
                <a:srgbClr val="000000"/>
              </a:solidFill>
              <a:latin typeface="Oswald" panose="00000500000000000000"/>
              <a:ea typeface="Oswald" panose="00000500000000000000"/>
              <a:cs typeface="Oswald" panose="00000500000000000000"/>
              <a:sym typeface="Oswald" panose="00000500000000000000"/>
            </a:endParaRPr>
          </a:p>
          <a:p>
            <a:pPr algn="l">
              <a:lnSpc>
                <a:spcPts val="6590"/>
              </a:lnSpc>
            </a:pPr>
            <a:r>
              <a:rPr lang="en-US" sz="4705">
                <a:solidFill>
                  <a:srgbClr val="000000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rPr>
              <a:t>Course: SE 2105</a:t>
            </a:r>
            <a:endParaRPr lang="en-US" sz="4705">
              <a:solidFill>
                <a:srgbClr val="000000"/>
              </a:solidFill>
              <a:latin typeface="Oswald" panose="00000500000000000000"/>
              <a:ea typeface="Oswald" panose="00000500000000000000"/>
              <a:cs typeface="Oswald" panose="00000500000000000000"/>
              <a:sym typeface="Oswald" panose="00000500000000000000"/>
            </a:endParaRPr>
          </a:p>
          <a:p>
            <a:pPr algn="l">
              <a:lnSpc>
                <a:spcPts val="4550"/>
              </a:lnSpc>
            </a:pPr>
          </a:p>
        </p:txBody>
      </p:sp>
      <p:sp>
        <p:nvSpPr>
          <p:cNvPr id="9" name="TextBox 9"/>
          <p:cNvSpPr txBox="1"/>
          <p:nvPr/>
        </p:nvSpPr>
        <p:spPr>
          <a:xfrm>
            <a:off x="5528454" y="3676147"/>
            <a:ext cx="524570" cy="1467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45"/>
              </a:lnSpc>
            </a:pPr>
            <a:r>
              <a:rPr lang="en-US" sz="8605">
                <a:solidFill>
                  <a:srgbClr val="000000"/>
                </a:solidFill>
                <a:latin typeface="TT Hoves" panose="02000003020000060003"/>
                <a:ea typeface="TT Hoves" panose="02000003020000060003"/>
                <a:cs typeface="TT Hoves" panose="02000003020000060003"/>
                <a:sym typeface="TT Hoves" panose="02000003020000060003"/>
              </a:rPr>
              <a:t>x</a:t>
            </a:r>
            <a:endParaRPr lang="en-US" sz="8605">
              <a:solidFill>
                <a:srgbClr val="000000"/>
              </a:solidFill>
              <a:latin typeface="TT Hoves" panose="02000003020000060003"/>
              <a:ea typeface="TT Hoves" panose="02000003020000060003"/>
              <a:cs typeface="TT Hoves" panose="02000003020000060003"/>
              <a:sym typeface="TT Hoves" panose="02000003020000060003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996484" y="-161925"/>
            <a:ext cx="541040" cy="1467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45"/>
              </a:lnSpc>
            </a:pPr>
            <a:r>
              <a:rPr lang="en-US" sz="8605">
                <a:solidFill>
                  <a:srgbClr val="000000"/>
                </a:solidFill>
                <a:latin typeface="TT Hoves" panose="02000003020000060003"/>
                <a:ea typeface="TT Hoves" panose="02000003020000060003"/>
                <a:cs typeface="TT Hoves" panose="02000003020000060003"/>
                <a:sym typeface="TT Hoves" panose="02000003020000060003"/>
              </a:rPr>
              <a:t>y</a:t>
            </a:r>
            <a:endParaRPr lang="en-US" sz="8605">
              <a:solidFill>
                <a:srgbClr val="000000"/>
              </a:solidFill>
              <a:latin typeface="TT Hoves" panose="02000003020000060003"/>
              <a:ea typeface="TT Hoves" panose="02000003020000060003"/>
              <a:cs typeface="TT Hoves" panose="02000003020000060003"/>
              <a:sym typeface="TT Hoves" panose="02000003020000060003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6266556" y="6703060"/>
            <a:ext cx="12021444" cy="820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30"/>
              </a:lnSpc>
            </a:pPr>
            <a:r>
              <a:rPr lang="en-US" sz="4805">
                <a:solidFill>
                  <a:srgbClr val="000000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rPr>
              <a:t>Supervisor: Shah Mostafa Khaled , PhD</a:t>
            </a:r>
            <a:endParaRPr lang="en-US" sz="4805">
              <a:solidFill>
                <a:srgbClr val="000000"/>
              </a:solidFill>
              <a:latin typeface="Oswald" panose="00000500000000000000"/>
              <a:ea typeface="Oswald" panose="00000500000000000000"/>
              <a:cs typeface="Oswald" panose="00000500000000000000"/>
              <a:sym typeface="Oswald" panose="00000500000000000000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6458713" y="9153525"/>
            <a:ext cx="12021444" cy="919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70"/>
              </a:lnSpc>
            </a:pPr>
            <a:r>
              <a:rPr lang="en-US" sz="5405">
                <a:solidFill>
                  <a:srgbClr val="000000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rPr>
              <a:t>Institute of Information Technology,DU</a:t>
            </a:r>
            <a:endParaRPr lang="en-US" sz="5405">
              <a:solidFill>
                <a:srgbClr val="000000"/>
              </a:solidFill>
              <a:latin typeface="Oswald" panose="00000500000000000000"/>
              <a:ea typeface="Oswald" panose="00000500000000000000"/>
              <a:cs typeface="Oswald" panose="00000500000000000000"/>
              <a:sym typeface="Oswald" panose="0000050000000000000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353190" y="-2270431"/>
            <a:ext cx="5321352" cy="5395541"/>
          </a:xfrm>
          <a:custGeom>
            <a:avLst/>
            <a:gdLst/>
            <a:ahLst/>
            <a:cxnLst/>
            <a:rect l="l" t="t" r="r" b="b"/>
            <a:pathLst>
              <a:path w="5321352" h="5395541">
                <a:moveTo>
                  <a:pt x="0" y="0"/>
                </a:moveTo>
                <a:lnTo>
                  <a:pt x="5321352" y="0"/>
                </a:lnTo>
                <a:lnTo>
                  <a:pt x="5321352" y="5395541"/>
                </a:lnTo>
                <a:lnTo>
                  <a:pt x="0" y="5395541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240433" y="1955492"/>
            <a:ext cx="16018867" cy="7737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187450" lvl="1" indent="-593725" algn="l">
              <a:lnSpc>
                <a:spcPts val="7700"/>
              </a:lnSpc>
              <a:buFont typeface="Arial" panose="020B0604020202020204"/>
              <a:buChar char="•"/>
            </a:pPr>
            <a:r>
              <a:rPr lang="en-US" sz="5500">
                <a:solidFill>
                  <a:srgbClr val="171C24"/>
                </a:solidFill>
                <a:latin typeface="TT Hoves" panose="02000003020000060003"/>
                <a:ea typeface="TT Hoves" panose="02000003020000060003"/>
                <a:cs typeface="TT Hoves" panose="02000003020000060003"/>
                <a:sym typeface="TT Hoves" panose="02000003020000060003"/>
              </a:rPr>
              <a:t>Goal: Solve complex math problems using code.</a:t>
            </a:r>
            <a:endParaRPr lang="en-US" sz="5500">
              <a:solidFill>
                <a:srgbClr val="171C24"/>
              </a:solidFill>
              <a:latin typeface="TT Hoves" panose="02000003020000060003"/>
              <a:ea typeface="TT Hoves" panose="02000003020000060003"/>
              <a:cs typeface="TT Hoves" panose="02000003020000060003"/>
              <a:sym typeface="TT Hoves" panose="02000003020000060003"/>
            </a:endParaRPr>
          </a:p>
          <a:p>
            <a:pPr marL="1187450" lvl="1" indent="-593725" algn="l">
              <a:lnSpc>
                <a:spcPts val="7700"/>
              </a:lnSpc>
              <a:buFont typeface="Arial" panose="020B0604020202020204"/>
              <a:buChar char="•"/>
            </a:pPr>
            <a:r>
              <a:rPr lang="en-US" sz="5500">
                <a:solidFill>
                  <a:srgbClr val="171C24"/>
                </a:solidFill>
                <a:latin typeface="TT Hoves" panose="02000003020000060003"/>
                <a:ea typeface="TT Hoves" panose="02000003020000060003"/>
                <a:cs typeface="TT Hoves" panose="02000003020000060003"/>
                <a:sym typeface="TT Hoves" panose="02000003020000060003"/>
              </a:rPr>
              <a:t>Current Status: TSP Solver (Completed).</a:t>
            </a:r>
            <a:endParaRPr lang="en-US" sz="5500">
              <a:solidFill>
                <a:srgbClr val="171C24"/>
              </a:solidFill>
              <a:latin typeface="TT Hoves" panose="02000003020000060003"/>
              <a:ea typeface="TT Hoves" panose="02000003020000060003"/>
              <a:cs typeface="TT Hoves" panose="02000003020000060003"/>
              <a:sym typeface="TT Hoves" panose="02000003020000060003"/>
            </a:endParaRPr>
          </a:p>
          <a:p>
            <a:pPr marL="1187450" lvl="1" indent="-593725" algn="l">
              <a:lnSpc>
                <a:spcPts val="7700"/>
              </a:lnSpc>
              <a:buFont typeface="Arial" panose="020B0604020202020204"/>
              <a:buChar char="•"/>
            </a:pPr>
            <a:r>
              <a:rPr lang="en-US" sz="5500">
                <a:solidFill>
                  <a:srgbClr val="171C24"/>
                </a:solidFill>
                <a:latin typeface="TT Hoves" panose="02000003020000060003"/>
                <a:ea typeface="TT Hoves" panose="02000003020000060003"/>
                <a:cs typeface="TT Hoves" panose="02000003020000060003"/>
                <a:sym typeface="TT Hoves" panose="02000003020000060003"/>
              </a:rPr>
              <a:t>Next Phase: 0/1 Knapsack Solver (Upcoming).</a:t>
            </a:r>
            <a:endParaRPr lang="en-US" sz="5500">
              <a:solidFill>
                <a:srgbClr val="171C24"/>
              </a:solidFill>
              <a:latin typeface="TT Hoves" panose="02000003020000060003"/>
              <a:ea typeface="TT Hoves" panose="02000003020000060003"/>
              <a:cs typeface="TT Hoves" panose="02000003020000060003"/>
              <a:sym typeface="TT Hoves" panose="02000003020000060003"/>
            </a:endParaRPr>
          </a:p>
          <a:p>
            <a:pPr marL="1187450" lvl="1" indent="-593725" algn="l">
              <a:lnSpc>
                <a:spcPts val="7700"/>
              </a:lnSpc>
              <a:buFont typeface="Arial" panose="020B0604020202020204"/>
              <a:buChar char="•"/>
            </a:pPr>
            <a:r>
              <a:rPr lang="en-US" sz="5500">
                <a:solidFill>
                  <a:srgbClr val="171C24"/>
                </a:solidFill>
                <a:latin typeface="TT Hoves" panose="02000003020000060003"/>
                <a:ea typeface="TT Hoves" panose="02000003020000060003"/>
                <a:cs typeface="TT Hoves" panose="02000003020000060003"/>
                <a:sym typeface="TT Hoves" panose="02000003020000060003"/>
              </a:rPr>
              <a:t>Languages Used:</a:t>
            </a:r>
            <a:endParaRPr lang="en-US" sz="5500">
              <a:solidFill>
                <a:srgbClr val="171C24"/>
              </a:solidFill>
              <a:latin typeface="TT Hoves" panose="02000003020000060003"/>
              <a:ea typeface="TT Hoves" panose="02000003020000060003"/>
              <a:cs typeface="TT Hoves" panose="02000003020000060003"/>
              <a:sym typeface="TT Hoves" panose="02000003020000060003"/>
            </a:endParaRPr>
          </a:p>
          <a:p>
            <a:pPr marL="1187450" lvl="1" indent="-593725" algn="l">
              <a:lnSpc>
                <a:spcPts val="7700"/>
              </a:lnSpc>
              <a:buFont typeface="Arial" panose="020B0604020202020204"/>
              <a:buChar char="•"/>
            </a:pPr>
            <a:r>
              <a:rPr lang="en-US" sz="5500">
                <a:solidFill>
                  <a:srgbClr val="171C24"/>
                </a:solidFill>
                <a:latin typeface="TT Hoves" panose="02000003020000060003"/>
                <a:ea typeface="TT Hoves" panose="02000003020000060003"/>
                <a:cs typeface="TT Hoves" panose="02000003020000060003"/>
                <a:sym typeface="TT Hoves" panose="02000003020000060003"/>
              </a:rPr>
              <a:t>Java: For the User Interface (UI).</a:t>
            </a:r>
            <a:endParaRPr lang="en-US" sz="5500">
              <a:solidFill>
                <a:srgbClr val="171C24"/>
              </a:solidFill>
              <a:latin typeface="TT Hoves" panose="02000003020000060003"/>
              <a:ea typeface="TT Hoves" panose="02000003020000060003"/>
              <a:cs typeface="TT Hoves" panose="02000003020000060003"/>
              <a:sym typeface="TT Hoves" panose="02000003020000060003"/>
            </a:endParaRPr>
          </a:p>
          <a:p>
            <a:pPr marL="1187450" lvl="1" indent="-593725" algn="l">
              <a:lnSpc>
                <a:spcPts val="7700"/>
              </a:lnSpc>
              <a:buFont typeface="Arial" panose="020B0604020202020204"/>
              <a:buChar char="•"/>
            </a:pPr>
            <a:r>
              <a:rPr lang="en-US" sz="5500">
                <a:solidFill>
                  <a:srgbClr val="171C24"/>
                </a:solidFill>
                <a:latin typeface="TT Hoves" panose="02000003020000060003"/>
                <a:ea typeface="TT Hoves" panose="02000003020000060003"/>
                <a:cs typeface="TT Hoves" panose="02000003020000060003"/>
                <a:sym typeface="TT Hoves" panose="02000003020000060003"/>
              </a:rPr>
              <a:t>C Language: For the fast calculations (Backend).</a:t>
            </a:r>
            <a:endParaRPr lang="en-US" sz="5500">
              <a:solidFill>
                <a:srgbClr val="171C24"/>
              </a:solidFill>
              <a:latin typeface="TT Hoves" panose="02000003020000060003"/>
              <a:ea typeface="TT Hoves" panose="02000003020000060003"/>
              <a:cs typeface="TT Hoves" panose="02000003020000060003"/>
              <a:sym typeface="TT Hoves" panose="02000003020000060003"/>
            </a:endParaRPr>
          </a:p>
          <a:p>
            <a:pPr algn="l">
              <a:lnSpc>
                <a:spcPts val="7700"/>
              </a:lnSpc>
            </a:pPr>
          </a:p>
        </p:txBody>
      </p:sp>
      <p:sp>
        <p:nvSpPr>
          <p:cNvPr id="4" name="TextBox 4"/>
          <p:cNvSpPr txBox="1"/>
          <p:nvPr/>
        </p:nvSpPr>
        <p:spPr>
          <a:xfrm>
            <a:off x="478145" y="468350"/>
            <a:ext cx="16781155" cy="1377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 b="1">
                <a:solidFill>
                  <a:srgbClr val="171C24"/>
                </a:solidFill>
                <a:latin typeface="TT Hoves Bold" panose="02000003020000060003"/>
                <a:ea typeface="TT Hoves Bold" panose="02000003020000060003"/>
                <a:cs typeface="TT Hoves Bold" panose="02000003020000060003"/>
                <a:sym typeface="TT Hoves Bold" panose="02000003020000060003"/>
              </a:rPr>
              <a:t>Project Overview</a:t>
            </a:r>
            <a:endParaRPr lang="en-US" sz="8000" b="1">
              <a:solidFill>
                <a:srgbClr val="171C24"/>
              </a:solidFill>
              <a:latin typeface="TT Hoves Bold" panose="02000003020000060003"/>
              <a:ea typeface="TT Hoves Bold" panose="02000003020000060003"/>
              <a:cs typeface="TT Hoves Bold" panose="02000003020000060003"/>
              <a:sym typeface="TT Hoves Bold" panose="02000003020000060003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40433" y="2492375"/>
            <a:ext cx="16018867" cy="6765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187450" lvl="1" indent="-593725" algn="l">
              <a:lnSpc>
                <a:spcPts val="7700"/>
              </a:lnSpc>
              <a:buFont typeface="Arial" panose="020B0604020202020204"/>
              <a:buChar char="•"/>
            </a:pPr>
            <a:r>
              <a:rPr lang="en-US" sz="5500">
                <a:solidFill>
                  <a:srgbClr val="171C24"/>
                </a:solidFill>
                <a:latin typeface="TT Hoves" panose="02000003020000060003"/>
                <a:ea typeface="TT Hoves" panose="02000003020000060003"/>
                <a:cs typeface="TT Hoves" panose="02000003020000060003"/>
                <a:sym typeface="TT Hoves" panose="02000003020000060003"/>
              </a:rPr>
              <a:t>Question: "How to visit N cities and return home using the shortest path?"</a:t>
            </a:r>
            <a:endParaRPr lang="en-US" sz="5500">
              <a:solidFill>
                <a:srgbClr val="171C24"/>
              </a:solidFill>
              <a:latin typeface="TT Hoves" panose="02000003020000060003"/>
              <a:ea typeface="TT Hoves" panose="02000003020000060003"/>
              <a:cs typeface="TT Hoves" panose="02000003020000060003"/>
              <a:sym typeface="TT Hoves" panose="02000003020000060003"/>
            </a:endParaRPr>
          </a:p>
          <a:p>
            <a:pPr marL="1187450" lvl="1" indent="-593725" algn="l">
              <a:lnSpc>
                <a:spcPts val="7700"/>
              </a:lnSpc>
              <a:buFont typeface="Arial" panose="020B0604020202020204"/>
              <a:buChar char="•"/>
            </a:pPr>
            <a:r>
              <a:rPr lang="en-US" sz="5500">
                <a:solidFill>
                  <a:srgbClr val="171C24"/>
                </a:solidFill>
                <a:latin typeface="TT Hoves" panose="02000003020000060003"/>
                <a:ea typeface="TT Hoves" panose="02000003020000060003"/>
                <a:cs typeface="TT Hoves" panose="02000003020000060003"/>
                <a:sym typeface="TT Hoves" panose="02000003020000060003"/>
              </a:rPr>
              <a:t>The Challenge:</a:t>
            </a:r>
            <a:endParaRPr lang="en-US" sz="5500">
              <a:solidFill>
                <a:srgbClr val="171C24"/>
              </a:solidFill>
              <a:latin typeface="TT Hoves" panose="02000003020000060003"/>
              <a:ea typeface="TT Hoves" panose="02000003020000060003"/>
              <a:cs typeface="TT Hoves" panose="02000003020000060003"/>
              <a:sym typeface="TT Hoves" panose="02000003020000060003"/>
            </a:endParaRPr>
          </a:p>
          <a:p>
            <a:pPr marL="1187450" lvl="1" indent="-593725" algn="l">
              <a:lnSpc>
                <a:spcPts val="7700"/>
              </a:lnSpc>
              <a:buFont typeface="Arial" panose="020B0604020202020204"/>
              <a:buChar char="•"/>
            </a:pPr>
            <a:r>
              <a:rPr lang="en-US" sz="5500">
                <a:solidFill>
                  <a:srgbClr val="171C24"/>
                </a:solidFill>
                <a:latin typeface="TT Hoves" panose="02000003020000060003"/>
                <a:ea typeface="TT Hoves" panose="02000003020000060003"/>
                <a:cs typeface="TT Hoves" panose="02000003020000060003"/>
                <a:sym typeface="TT Hoves" panose="02000003020000060003"/>
              </a:rPr>
              <a:t>10</a:t>
            </a:r>
            <a:r>
              <a:rPr lang="en-US" sz="5500">
                <a:solidFill>
                  <a:srgbClr val="171C24"/>
                </a:solidFill>
                <a:latin typeface="TT Hoves" panose="02000003020000060003"/>
                <a:ea typeface="TT Hoves" panose="02000003020000060003"/>
                <a:cs typeface="TT Hoves" panose="02000003020000060003"/>
                <a:sym typeface="TT Hoves" panose="02000003020000060003"/>
              </a:rPr>
              <a:t> Cities = 180,000 paths.</a:t>
            </a:r>
            <a:endParaRPr lang="en-US" sz="5500">
              <a:solidFill>
                <a:srgbClr val="171C24"/>
              </a:solidFill>
              <a:latin typeface="TT Hoves" panose="02000003020000060003"/>
              <a:ea typeface="TT Hoves" panose="02000003020000060003"/>
              <a:cs typeface="TT Hoves" panose="02000003020000060003"/>
              <a:sym typeface="TT Hoves" panose="02000003020000060003"/>
            </a:endParaRPr>
          </a:p>
          <a:p>
            <a:pPr marL="1187450" lvl="1" indent="-593725" algn="l">
              <a:lnSpc>
                <a:spcPts val="7700"/>
              </a:lnSpc>
              <a:buFont typeface="Arial" panose="020B0604020202020204"/>
              <a:buChar char="•"/>
            </a:pPr>
            <a:r>
              <a:rPr lang="en-US" sz="5500">
                <a:solidFill>
                  <a:srgbClr val="171C24"/>
                </a:solidFill>
                <a:latin typeface="TT Hoves" panose="02000003020000060003"/>
                <a:ea typeface="TT Hoves" panose="02000003020000060003"/>
                <a:cs typeface="TT Hoves" panose="02000003020000060003"/>
                <a:sym typeface="TT Hoves" panose="02000003020000060003"/>
              </a:rPr>
              <a:t>12 Cities = 479 Million paths.</a:t>
            </a:r>
            <a:endParaRPr lang="en-US" sz="5500">
              <a:solidFill>
                <a:srgbClr val="171C24"/>
              </a:solidFill>
              <a:latin typeface="TT Hoves" panose="02000003020000060003"/>
              <a:ea typeface="TT Hoves" panose="02000003020000060003"/>
              <a:cs typeface="TT Hoves" panose="02000003020000060003"/>
              <a:sym typeface="TT Hoves" panose="02000003020000060003"/>
            </a:endParaRPr>
          </a:p>
          <a:p>
            <a:pPr marL="1187450" lvl="1" indent="-593725" algn="l">
              <a:lnSpc>
                <a:spcPts val="7700"/>
              </a:lnSpc>
              <a:buFont typeface="Arial" panose="020B0604020202020204"/>
              <a:buChar char="•"/>
            </a:pPr>
            <a:r>
              <a:rPr lang="en-US" sz="5500">
                <a:solidFill>
                  <a:srgbClr val="171C24"/>
                </a:solidFill>
                <a:latin typeface="TT Hoves" panose="02000003020000060003"/>
                <a:ea typeface="TT Hoves" panose="02000003020000060003"/>
                <a:cs typeface="TT Hoves" panose="02000003020000060003"/>
                <a:sym typeface="TT Hoves" panose="02000003020000060003"/>
              </a:rPr>
              <a:t>20 Cities = Impossible for normal computers.</a:t>
            </a:r>
            <a:endParaRPr lang="en-US" sz="5500">
              <a:solidFill>
                <a:srgbClr val="171C24"/>
              </a:solidFill>
              <a:latin typeface="TT Hoves" panose="02000003020000060003"/>
              <a:ea typeface="TT Hoves" panose="02000003020000060003"/>
              <a:cs typeface="TT Hoves" panose="02000003020000060003"/>
              <a:sym typeface="TT Hoves" panose="02000003020000060003"/>
            </a:endParaRPr>
          </a:p>
          <a:p>
            <a:pPr algn="l">
              <a:lnSpc>
                <a:spcPts val="7700"/>
              </a:lnSpc>
            </a:pPr>
          </a:p>
        </p:txBody>
      </p:sp>
      <p:sp>
        <p:nvSpPr>
          <p:cNvPr id="3" name="TextBox 3"/>
          <p:cNvSpPr txBox="1"/>
          <p:nvPr/>
        </p:nvSpPr>
        <p:spPr>
          <a:xfrm>
            <a:off x="478145" y="468350"/>
            <a:ext cx="16781155" cy="1377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 b="1">
                <a:solidFill>
                  <a:srgbClr val="171C24"/>
                </a:solidFill>
                <a:latin typeface="TT Hoves Bold" panose="02000003020000060003"/>
                <a:ea typeface="TT Hoves Bold" panose="02000003020000060003"/>
                <a:cs typeface="TT Hoves Bold" panose="02000003020000060003"/>
                <a:sym typeface="TT Hoves Bold" panose="02000003020000060003"/>
              </a:rPr>
              <a:t>T</a:t>
            </a:r>
            <a:r>
              <a:rPr lang="en-US" sz="8000" b="1">
                <a:solidFill>
                  <a:srgbClr val="171C24"/>
                </a:solidFill>
                <a:latin typeface="TT Hoves Bold" panose="02000003020000060003"/>
                <a:ea typeface="TT Hoves Bold" panose="02000003020000060003"/>
                <a:cs typeface="TT Hoves Bold" panose="02000003020000060003"/>
                <a:sym typeface="TT Hoves Bold" panose="02000003020000060003"/>
              </a:rPr>
              <a:t>he Problem (TSP)</a:t>
            </a:r>
            <a:endParaRPr lang="en-US" sz="8000" b="1">
              <a:solidFill>
                <a:srgbClr val="171C24"/>
              </a:solidFill>
              <a:latin typeface="TT Hoves Bold" panose="02000003020000060003"/>
              <a:ea typeface="TT Hoves Bold" panose="02000003020000060003"/>
              <a:cs typeface="TT Hoves Bold" panose="02000003020000060003"/>
              <a:sym typeface="TT Hoves Bold" panose="02000003020000060003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40433" y="2492375"/>
            <a:ext cx="16018867" cy="6765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187450" lvl="1" indent="-593725" algn="l">
              <a:lnSpc>
                <a:spcPts val="7700"/>
              </a:lnSpc>
              <a:buFont typeface="Arial" panose="020B0604020202020204"/>
              <a:buChar char="•"/>
            </a:pPr>
            <a:r>
              <a:rPr lang="en-US" sz="5500">
                <a:solidFill>
                  <a:srgbClr val="171C24"/>
                </a:solidFill>
                <a:latin typeface="TT Hoves" panose="02000003020000060003"/>
                <a:ea typeface="TT Hoves" panose="02000003020000060003"/>
                <a:cs typeface="TT Hoves" panose="02000003020000060003"/>
                <a:sym typeface="TT Hoves" panose="02000003020000060003"/>
              </a:rPr>
              <a:t>Type: Exact Algorithm.</a:t>
            </a:r>
            <a:endParaRPr lang="en-US" sz="5500">
              <a:solidFill>
                <a:srgbClr val="171C24"/>
              </a:solidFill>
              <a:latin typeface="TT Hoves" panose="02000003020000060003"/>
              <a:ea typeface="TT Hoves" panose="02000003020000060003"/>
              <a:cs typeface="TT Hoves" panose="02000003020000060003"/>
              <a:sym typeface="TT Hoves" panose="02000003020000060003"/>
            </a:endParaRPr>
          </a:p>
          <a:p>
            <a:pPr marL="1187450" lvl="1" indent="-593725" algn="l">
              <a:lnSpc>
                <a:spcPts val="7700"/>
              </a:lnSpc>
              <a:buFont typeface="Arial" panose="020B0604020202020204"/>
              <a:buChar char="•"/>
            </a:pPr>
            <a:r>
              <a:rPr lang="en-US" sz="5500">
                <a:solidFill>
                  <a:srgbClr val="171C24"/>
                </a:solidFill>
                <a:latin typeface="TT Hoves" panose="02000003020000060003"/>
                <a:ea typeface="TT Hoves" panose="02000003020000060003"/>
                <a:cs typeface="TT Hoves" panose="02000003020000060003"/>
                <a:sym typeface="TT Hoves" panose="02000003020000060003"/>
              </a:rPr>
              <a:t>Acc</a:t>
            </a:r>
            <a:r>
              <a:rPr lang="en-US" sz="5500">
                <a:solidFill>
                  <a:srgbClr val="171C24"/>
                </a:solidFill>
                <a:latin typeface="TT Hoves" panose="02000003020000060003"/>
                <a:ea typeface="TT Hoves" panose="02000003020000060003"/>
                <a:cs typeface="TT Hoves" panose="02000003020000060003"/>
                <a:sym typeface="TT Hoves" panose="02000003020000060003"/>
              </a:rPr>
              <a:t>uracy: 100% (Perfect Solution).</a:t>
            </a:r>
            <a:endParaRPr lang="en-US" sz="5500">
              <a:solidFill>
                <a:srgbClr val="171C24"/>
              </a:solidFill>
              <a:latin typeface="TT Hoves" panose="02000003020000060003"/>
              <a:ea typeface="TT Hoves" panose="02000003020000060003"/>
              <a:cs typeface="TT Hoves" panose="02000003020000060003"/>
              <a:sym typeface="TT Hoves" panose="02000003020000060003"/>
            </a:endParaRPr>
          </a:p>
          <a:p>
            <a:pPr marL="1187450" lvl="1" indent="-593725" algn="l">
              <a:lnSpc>
                <a:spcPts val="7700"/>
              </a:lnSpc>
              <a:buFont typeface="Arial" panose="020B0604020202020204"/>
              <a:buChar char="•"/>
            </a:pPr>
            <a:r>
              <a:rPr lang="en-US" sz="5500">
                <a:solidFill>
                  <a:srgbClr val="171C24"/>
                </a:solidFill>
                <a:latin typeface="TT Hoves" panose="02000003020000060003"/>
                <a:ea typeface="TT Hoves" panose="02000003020000060003"/>
                <a:cs typeface="TT Hoves" panose="02000003020000060003"/>
                <a:sym typeface="TT Hoves" panose="02000003020000060003"/>
              </a:rPr>
              <a:t>How it works:</a:t>
            </a:r>
            <a:endParaRPr lang="en-US" sz="5500">
              <a:solidFill>
                <a:srgbClr val="171C24"/>
              </a:solidFill>
              <a:latin typeface="TT Hoves" panose="02000003020000060003"/>
              <a:ea typeface="TT Hoves" panose="02000003020000060003"/>
              <a:cs typeface="TT Hoves" panose="02000003020000060003"/>
              <a:sym typeface="TT Hoves" panose="02000003020000060003"/>
            </a:endParaRPr>
          </a:p>
          <a:p>
            <a:pPr marL="1187450" lvl="1" indent="-593725" algn="l">
              <a:lnSpc>
                <a:spcPts val="7700"/>
              </a:lnSpc>
              <a:buFont typeface="Arial" panose="020B0604020202020204"/>
              <a:buChar char="•"/>
            </a:pPr>
            <a:r>
              <a:rPr lang="en-US" sz="5500">
                <a:solidFill>
                  <a:srgbClr val="171C24"/>
                </a:solidFill>
                <a:latin typeface="TT Hoves" panose="02000003020000060003"/>
                <a:ea typeface="TT Hoves" panose="02000003020000060003"/>
                <a:cs typeface="TT Hoves" panose="02000003020000060003"/>
                <a:sym typeface="TT Hoves" panose="02000003020000060003"/>
              </a:rPr>
              <a:t>Uses a "Lower Bound" to guess the cost.</a:t>
            </a:r>
            <a:endParaRPr lang="en-US" sz="5500">
              <a:solidFill>
                <a:srgbClr val="171C24"/>
              </a:solidFill>
              <a:latin typeface="TT Hoves" panose="02000003020000060003"/>
              <a:ea typeface="TT Hoves" panose="02000003020000060003"/>
              <a:cs typeface="TT Hoves" panose="02000003020000060003"/>
              <a:sym typeface="TT Hoves" panose="02000003020000060003"/>
            </a:endParaRPr>
          </a:p>
          <a:p>
            <a:pPr marL="1187450" lvl="1" indent="-593725" algn="l">
              <a:lnSpc>
                <a:spcPts val="7700"/>
              </a:lnSpc>
              <a:buFont typeface="Arial" panose="020B0604020202020204"/>
              <a:buChar char="•"/>
            </a:pPr>
            <a:r>
              <a:rPr lang="en-US" sz="5500">
                <a:solidFill>
                  <a:srgbClr val="171C24"/>
                </a:solidFill>
                <a:latin typeface="TT Hoves" panose="02000003020000060003"/>
                <a:ea typeface="TT Hoves" panose="02000003020000060003"/>
                <a:cs typeface="TT Hoves" panose="02000003020000060003"/>
                <a:sym typeface="TT Hoves" panose="02000003020000060003"/>
              </a:rPr>
              <a:t>Pruni</a:t>
            </a:r>
            <a:r>
              <a:rPr lang="en-US" sz="5500">
                <a:solidFill>
                  <a:srgbClr val="171C24"/>
                </a:solidFill>
                <a:latin typeface="TT Hoves" panose="02000003020000060003"/>
                <a:ea typeface="TT Hoves" panose="02000003020000060003"/>
                <a:cs typeface="TT Hoves" panose="02000003020000060003"/>
                <a:sym typeface="TT Hoves" panose="02000003020000060003"/>
              </a:rPr>
              <a:t>ng: If a path looks expensive, it cuts it off immediately.</a:t>
            </a:r>
            <a:endParaRPr lang="en-US" sz="5500">
              <a:solidFill>
                <a:srgbClr val="171C24"/>
              </a:solidFill>
              <a:latin typeface="TT Hoves" panose="02000003020000060003"/>
              <a:ea typeface="TT Hoves" panose="02000003020000060003"/>
              <a:cs typeface="TT Hoves" panose="02000003020000060003"/>
              <a:sym typeface="TT Hoves" panose="02000003020000060003"/>
            </a:endParaRPr>
          </a:p>
          <a:p>
            <a:pPr algn="l">
              <a:lnSpc>
                <a:spcPts val="7700"/>
              </a:lnSpc>
            </a:pPr>
          </a:p>
        </p:txBody>
      </p:sp>
      <p:sp>
        <p:nvSpPr>
          <p:cNvPr id="3" name="TextBox 3"/>
          <p:cNvSpPr txBox="1"/>
          <p:nvPr/>
        </p:nvSpPr>
        <p:spPr>
          <a:xfrm>
            <a:off x="478145" y="468350"/>
            <a:ext cx="16781155" cy="1377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 b="1">
                <a:solidFill>
                  <a:srgbClr val="171C24"/>
                </a:solidFill>
                <a:latin typeface="TT Hoves Bold" panose="02000003020000060003"/>
                <a:ea typeface="TT Hoves Bold" panose="02000003020000060003"/>
                <a:cs typeface="TT Hoves Bold" panose="02000003020000060003"/>
                <a:sym typeface="TT Hoves Bold" panose="02000003020000060003"/>
              </a:rPr>
              <a:t>Algorit</a:t>
            </a:r>
            <a:r>
              <a:rPr lang="en-US" sz="8000" b="1">
                <a:solidFill>
                  <a:srgbClr val="171C24"/>
                </a:solidFill>
                <a:latin typeface="TT Hoves Bold" panose="02000003020000060003"/>
                <a:ea typeface="TT Hoves Bold" panose="02000003020000060003"/>
                <a:cs typeface="TT Hoves Bold" panose="02000003020000060003"/>
                <a:sym typeface="TT Hoves Bold" panose="02000003020000060003"/>
              </a:rPr>
              <a:t>hm 1 - Branch and Bound</a:t>
            </a:r>
            <a:endParaRPr lang="en-US" sz="8000" b="1">
              <a:solidFill>
                <a:srgbClr val="171C24"/>
              </a:solidFill>
              <a:latin typeface="TT Hoves Bold" panose="02000003020000060003"/>
              <a:ea typeface="TT Hoves Bold" panose="02000003020000060003"/>
              <a:cs typeface="TT Hoves Bold" panose="02000003020000060003"/>
              <a:sym typeface="TT Hoves Bold" panose="02000003020000060003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145" y="3177298"/>
            <a:ext cx="8390578" cy="5270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3475" b="1">
                <a:solidFill>
                  <a:srgbClr val="171C24"/>
                </a:solidFill>
                <a:latin typeface="TT Hoves Bold" panose="02000003020000060003"/>
                <a:ea typeface="TT Hoves Bold" panose="02000003020000060003"/>
                <a:cs typeface="TT Hoves Bold" panose="02000003020000060003"/>
                <a:sym typeface="TT Hoves Bold" panose="02000003020000060003"/>
              </a:rPr>
              <a:t>Pros (Advantages):</a:t>
            </a:r>
            <a:endParaRPr lang="en-US" sz="3475" b="1">
              <a:solidFill>
                <a:srgbClr val="171C24"/>
              </a:solidFill>
              <a:latin typeface="TT Hoves Bold" panose="02000003020000060003"/>
              <a:ea typeface="TT Hoves Bold" panose="02000003020000060003"/>
              <a:cs typeface="TT Hoves Bold" panose="02000003020000060003"/>
              <a:sym typeface="TT Hoves Bold" panose="02000003020000060003"/>
            </a:endParaRPr>
          </a:p>
          <a:p>
            <a:pPr algn="l">
              <a:lnSpc>
                <a:spcPts val="4860"/>
              </a:lnSpc>
            </a:pPr>
            <a:r>
              <a:rPr lang="en-US" sz="3475">
                <a:solidFill>
                  <a:srgbClr val="171C24"/>
                </a:solidFill>
                <a:latin typeface="TT Hoves" panose="02000003020000060003"/>
                <a:ea typeface="TT Hoves" panose="02000003020000060003"/>
                <a:cs typeface="TT Hoves" panose="02000003020000060003"/>
                <a:sym typeface="TT Hoves" panose="02000003020000060003"/>
              </a:rPr>
              <a:t>✅ Guaranteed Optimality: It always finds the mathematically perfect Global Minimum.</a:t>
            </a:r>
            <a:endParaRPr lang="en-US" sz="3475">
              <a:solidFill>
                <a:srgbClr val="171C24"/>
              </a:solidFill>
              <a:latin typeface="TT Hoves" panose="02000003020000060003"/>
              <a:ea typeface="TT Hoves" panose="02000003020000060003"/>
              <a:cs typeface="TT Hoves" panose="02000003020000060003"/>
              <a:sym typeface="TT Hoves" panose="02000003020000060003"/>
            </a:endParaRPr>
          </a:p>
          <a:p>
            <a:pPr algn="l">
              <a:lnSpc>
                <a:spcPts val="4860"/>
              </a:lnSpc>
            </a:pPr>
            <a:r>
              <a:rPr lang="en-US" sz="3475">
                <a:solidFill>
                  <a:srgbClr val="171C24"/>
                </a:solidFill>
                <a:latin typeface="TT Hoves" panose="02000003020000060003"/>
                <a:ea typeface="TT Hoves" panose="02000003020000060003"/>
                <a:cs typeface="TT Hoves" panose="02000003020000060003"/>
                <a:sym typeface="TT Hoves" panose="02000003020000060003"/>
              </a:rPr>
              <a:t>✅ Deterministic: If you run it 100 times, you get the exact same result 100 times.</a:t>
            </a:r>
            <a:endParaRPr lang="en-US" sz="3475">
              <a:solidFill>
                <a:srgbClr val="171C24"/>
              </a:solidFill>
              <a:latin typeface="TT Hoves" panose="02000003020000060003"/>
              <a:ea typeface="TT Hoves" panose="02000003020000060003"/>
              <a:cs typeface="TT Hoves" panose="02000003020000060003"/>
              <a:sym typeface="TT Hoves" panose="02000003020000060003"/>
            </a:endParaRPr>
          </a:p>
          <a:p>
            <a:pPr algn="l">
              <a:lnSpc>
                <a:spcPts val="4860"/>
              </a:lnSpc>
            </a:pPr>
            <a:r>
              <a:rPr lang="en-US" sz="3475">
                <a:solidFill>
                  <a:srgbClr val="171C24"/>
                </a:solidFill>
                <a:latin typeface="TT Hoves" panose="02000003020000060003"/>
                <a:ea typeface="TT Hoves" panose="02000003020000060003"/>
                <a:cs typeface="TT Hoves" panose="02000003020000060003"/>
                <a:sym typeface="TT Hoves" panose="02000003020000060003"/>
              </a:rPr>
              <a:t>✅ Simplicity: No complex parameters to tune (unlike AI algorithms).</a:t>
            </a:r>
            <a:endParaRPr lang="en-US" sz="3475">
              <a:solidFill>
                <a:srgbClr val="171C24"/>
              </a:solidFill>
              <a:latin typeface="TT Hoves" panose="02000003020000060003"/>
              <a:ea typeface="TT Hoves" panose="02000003020000060003"/>
              <a:cs typeface="TT Hoves" panose="02000003020000060003"/>
              <a:sym typeface="TT Hoves" panose="02000003020000060003"/>
            </a:endParaRPr>
          </a:p>
          <a:p>
            <a:pPr algn="l">
              <a:lnSpc>
                <a:spcPts val="3180"/>
              </a:lnSpc>
            </a:pPr>
          </a:p>
        </p:txBody>
      </p:sp>
      <p:sp>
        <p:nvSpPr>
          <p:cNvPr id="3" name="TextBox 3"/>
          <p:cNvSpPr txBox="1"/>
          <p:nvPr/>
        </p:nvSpPr>
        <p:spPr>
          <a:xfrm>
            <a:off x="478145" y="468350"/>
            <a:ext cx="16781155" cy="1377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 b="1">
                <a:solidFill>
                  <a:srgbClr val="171C24"/>
                </a:solidFill>
                <a:latin typeface="TT Hoves Bold" panose="02000003020000060003"/>
                <a:ea typeface="TT Hoves Bold" panose="02000003020000060003"/>
                <a:cs typeface="TT Hoves Bold" panose="02000003020000060003"/>
                <a:sym typeface="TT Hoves Bold" panose="02000003020000060003"/>
              </a:rPr>
              <a:t>Algorithmic Analysis</a:t>
            </a:r>
            <a:endParaRPr lang="en-US" sz="8000" b="1">
              <a:solidFill>
                <a:srgbClr val="171C24"/>
              </a:solidFill>
              <a:latin typeface="TT Hoves Bold" panose="02000003020000060003"/>
              <a:ea typeface="TT Hoves Bold" panose="02000003020000060003"/>
              <a:cs typeface="TT Hoves Bold" panose="02000003020000060003"/>
              <a:sym typeface="TT Hoves Bold" panose="02000003020000060003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9144000" y="3177298"/>
            <a:ext cx="8390578" cy="58801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3475" b="1">
                <a:solidFill>
                  <a:srgbClr val="171C24"/>
                </a:solidFill>
                <a:latin typeface="TT Hoves Bold" panose="02000003020000060003"/>
                <a:ea typeface="TT Hoves Bold" panose="02000003020000060003"/>
                <a:cs typeface="TT Hoves Bold" panose="02000003020000060003"/>
                <a:sym typeface="TT Hoves Bold" panose="02000003020000060003"/>
              </a:rPr>
              <a:t>Cons (Disadvantages):</a:t>
            </a:r>
            <a:endParaRPr lang="en-US" sz="3475" b="1">
              <a:solidFill>
                <a:srgbClr val="171C24"/>
              </a:solidFill>
              <a:latin typeface="TT Hoves Bold" panose="02000003020000060003"/>
              <a:ea typeface="TT Hoves Bold" panose="02000003020000060003"/>
              <a:cs typeface="TT Hoves Bold" panose="02000003020000060003"/>
              <a:sym typeface="TT Hoves Bold" panose="02000003020000060003"/>
            </a:endParaRPr>
          </a:p>
          <a:p>
            <a:pPr algn="l">
              <a:lnSpc>
                <a:spcPts val="4860"/>
              </a:lnSpc>
            </a:pPr>
            <a:r>
              <a:rPr lang="en-US" sz="3475">
                <a:solidFill>
                  <a:srgbClr val="171C24"/>
                </a:solidFill>
                <a:latin typeface="TT Hoves" panose="02000003020000060003"/>
                <a:ea typeface="TT Hoves" panose="02000003020000060003"/>
                <a:cs typeface="TT Hoves" panose="02000003020000060003"/>
                <a:sym typeface="TT Hoves" panose="02000003020000060003"/>
              </a:rPr>
              <a:t>❌ Exponential Time (): Adding just 1 city multiplies the calculation time enormously.</a:t>
            </a:r>
            <a:r>
              <a:rPr lang="en-US" sz="3475">
                <a:solidFill>
                  <a:srgbClr val="171C24"/>
                </a:solidFill>
                <a:latin typeface="TT Hoves" panose="02000003020000060003"/>
                <a:ea typeface="TT Hoves" panose="02000003020000060003"/>
                <a:cs typeface="TT Hoves" panose="02000003020000060003"/>
                <a:sym typeface="TT Hoves" panose="02000003020000060003"/>
              </a:rPr>
              <a:t>.</a:t>
            </a:r>
            <a:endParaRPr lang="en-US" sz="3475">
              <a:solidFill>
                <a:srgbClr val="171C24"/>
              </a:solidFill>
              <a:latin typeface="TT Hoves" panose="02000003020000060003"/>
              <a:ea typeface="TT Hoves" panose="02000003020000060003"/>
              <a:cs typeface="TT Hoves" panose="02000003020000060003"/>
              <a:sym typeface="TT Hoves" panose="02000003020000060003"/>
            </a:endParaRPr>
          </a:p>
          <a:p>
            <a:pPr algn="l">
              <a:lnSpc>
                <a:spcPts val="4860"/>
              </a:lnSpc>
            </a:pPr>
            <a:r>
              <a:rPr lang="en-US" sz="3475">
                <a:solidFill>
                  <a:srgbClr val="171C24"/>
                </a:solidFill>
                <a:latin typeface="TT Hoves" panose="02000003020000060003"/>
                <a:ea typeface="TT Hoves" panose="02000003020000060003"/>
                <a:cs typeface="TT Hoves" panose="02000003020000060003"/>
                <a:sym typeface="TT Hoves" panose="02000003020000060003"/>
              </a:rPr>
              <a:t>❌ High Memory Usage: It creates millions of tree nodes, which can fill up RAM and crash the system.</a:t>
            </a:r>
            <a:endParaRPr lang="en-US" sz="3475">
              <a:solidFill>
                <a:srgbClr val="171C24"/>
              </a:solidFill>
              <a:latin typeface="TT Hoves" panose="02000003020000060003"/>
              <a:ea typeface="TT Hoves" panose="02000003020000060003"/>
              <a:cs typeface="TT Hoves" panose="02000003020000060003"/>
              <a:sym typeface="TT Hoves" panose="02000003020000060003"/>
            </a:endParaRPr>
          </a:p>
          <a:p>
            <a:pPr algn="l">
              <a:lnSpc>
                <a:spcPts val="4860"/>
              </a:lnSpc>
            </a:pPr>
            <a:r>
              <a:rPr lang="en-US" sz="3475">
                <a:solidFill>
                  <a:srgbClr val="171C24"/>
                </a:solidFill>
                <a:latin typeface="TT Hoves" panose="02000003020000060003"/>
                <a:ea typeface="TT Hoves" panose="02000003020000060003"/>
                <a:cs typeface="TT Hoves" panose="02000003020000060003"/>
                <a:sym typeface="TT Hoves" panose="02000003020000060003"/>
              </a:rPr>
              <a:t>❌ Not Scalable: It is practically impossible to use for  on standard laptops.</a:t>
            </a:r>
            <a:endParaRPr lang="en-US" sz="3475">
              <a:solidFill>
                <a:srgbClr val="171C24"/>
              </a:solidFill>
              <a:latin typeface="TT Hoves" panose="02000003020000060003"/>
              <a:ea typeface="TT Hoves" panose="02000003020000060003"/>
              <a:cs typeface="TT Hoves" panose="02000003020000060003"/>
              <a:sym typeface="TT Hoves" panose="02000003020000060003"/>
            </a:endParaRPr>
          </a:p>
          <a:p>
            <a:pPr algn="l">
              <a:lnSpc>
                <a:spcPts val="4860"/>
              </a:lnSpc>
            </a:pPr>
          </a:p>
          <a:p>
            <a:pPr algn="l">
              <a:lnSpc>
                <a:spcPts val="3180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40433" y="2202597"/>
            <a:ext cx="16018867" cy="6765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187450" lvl="1" indent="-593725" algn="l">
              <a:lnSpc>
                <a:spcPts val="7700"/>
              </a:lnSpc>
              <a:buFont typeface="Arial" panose="020B0604020202020204"/>
              <a:buChar char="•"/>
            </a:pPr>
            <a:r>
              <a:rPr lang="en-US" sz="5500">
                <a:solidFill>
                  <a:srgbClr val="171C24"/>
                </a:solidFill>
                <a:latin typeface="TT Hoves" panose="02000003020000060003"/>
                <a:ea typeface="TT Hoves" panose="02000003020000060003"/>
                <a:cs typeface="TT Hoves" panose="02000003020000060003"/>
                <a:sym typeface="TT Hoves" panose="02000003020000060003"/>
              </a:rPr>
              <a:t>Type: Heuristic (Approximation).</a:t>
            </a:r>
            <a:endParaRPr lang="en-US" sz="5500">
              <a:solidFill>
                <a:srgbClr val="171C24"/>
              </a:solidFill>
              <a:latin typeface="TT Hoves" panose="02000003020000060003"/>
              <a:ea typeface="TT Hoves" panose="02000003020000060003"/>
              <a:cs typeface="TT Hoves" panose="02000003020000060003"/>
              <a:sym typeface="TT Hoves" panose="02000003020000060003"/>
            </a:endParaRPr>
          </a:p>
          <a:p>
            <a:pPr marL="1187450" lvl="1" indent="-593725" algn="l">
              <a:lnSpc>
                <a:spcPts val="7700"/>
              </a:lnSpc>
              <a:buFont typeface="Arial" panose="020B0604020202020204"/>
              <a:buChar char="•"/>
            </a:pPr>
            <a:r>
              <a:rPr lang="en-US" sz="5500">
                <a:solidFill>
                  <a:srgbClr val="171C24"/>
                </a:solidFill>
                <a:latin typeface="TT Hoves" panose="02000003020000060003"/>
                <a:ea typeface="TT Hoves" panose="02000003020000060003"/>
                <a:cs typeface="TT Hoves" panose="02000003020000060003"/>
                <a:sym typeface="TT Hoves" panose="02000003020000060003"/>
              </a:rPr>
              <a:t>Inspi</a:t>
            </a:r>
            <a:r>
              <a:rPr lang="en-US" sz="5500">
                <a:solidFill>
                  <a:srgbClr val="171C24"/>
                </a:solidFill>
                <a:latin typeface="TT Hoves" panose="02000003020000060003"/>
                <a:ea typeface="TT Hoves" panose="02000003020000060003"/>
                <a:cs typeface="TT Hoves" panose="02000003020000060003"/>
                <a:sym typeface="TT Hoves" panose="02000003020000060003"/>
              </a:rPr>
              <a:t>ration: Real ants finding food.</a:t>
            </a:r>
            <a:endParaRPr lang="en-US" sz="5500">
              <a:solidFill>
                <a:srgbClr val="171C24"/>
              </a:solidFill>
              <a:latin typeface="TT Hoves" panose="02000003020000060003"/>
              <a:ea typeface="TT Hoves" panose="02000003020000060003"/>
              <a:cs typeface="TT Hoves" panose="02000003020000060003"/>
              <a:sym typeface="TT Hoves" panose="02000003020000060003"/>
            </a:endParaRPr>
          </a:p>
          <a:p>
            <a:pPr marL="1187450" lvl="1" indent="-593725" algn="l">
              <a:lnSpc>
                <a:spcPts val="7700"/>
              </a:lnSpc>
              <a:buFont typeface="Arial" panose="020B0604020202020204"/>
              <a:buChar char="•"/>
            </a:pPr>
            <a:r>
              <a:rPr lang="en-US" sz="5500">
                <a:solidFill>
                  <a:srgbClr val="171C24"/>
                </a:solidFill>
                <a:latin typeface="TT Hoves" panose="02000003020000060003"/>
                <a:ea typeface="TT Hoves" panose="02000003020000060003"/>
                <a:cs typeface="TT Hoves" panose="02000003020000060003"/>
                <a:sym typeface="TT Hoves" panose="02000003020000060003"/>
              </a:rPr>
              <a:t>Why u</a:t>
            </a:r>
            <a:r>
              <a:rPr lang="en-US" sz="5500">
                <a:solidFill>
                  <a:srgbClr val="171C24"/>
                </a:solidFill>
                <a:latin typeface="TT Hoves" panose="02000003020000060003"/>
                <a:ea typeface="TT Hoves" panose="02000003020000060003"/>
                <a:cs typeface="TT Hoves" panose="02000003020000060003"/>
                <a:sym typeface="TT Hoves" panose="02000003020000060003"/>
              </a:rPr>
              <a:t>se it?</a:t>
            </a:r>
            <a:endParaRPr lang="en-US" sz="5500">
              <a:solidFill>
                <a:srgbClr val="171C24"/>
              </a:solidFill>
              <a:latin typeface="TT Hoves" panose="02000003020000060003"/>
              <a:ea typeface="TT Hoves" panose="02000003020000060003"/>
              <a:cs typeface="TT Hoves" panose="02000003020000060003"/>
              <a:sym typeface="TT Hoves" panose="02000003020000060003"/>
            </a:endParaRPr>
          </a:p>
          <a:p>
            <a:pPr marL="1187450" lvl="1" indent="-593725" algn="l">
              <a:lnSpc>
                <a:spcPts val="7700"/>
              </a:lnSpc>
              <a:buFont typeface="Arial" panose="020B0604020202020204"/>
              <a:buChar char="•"/>
            </a:pPr>
            <a:r>
              <a:rPr lang="en-US" sz="5500">
                <a:solidFill>
                  <a:srgbClr val="171C24"/>
                </a:solidFill>
                <a:latin typeface="TT Hoves" panose="02000003020000060003"/>
                <a:ea typeface="TT Hoves" panose="02000003020000060003"/>
                <a:cs typeface="TT Hoves" panose="02000003020000060003"/>
                <a:sym typeface="TT Hoves" panose="02000003020000060003"/>
              </a:rPr>
              <a:t>Branch and Bound is too slow for 50+ cities.</a:t>
            </a:r>
            <a:endParaRPr lang="en-US" sz="5500">
              <a:solidFill>
                <a:srgbClr val="171C24"/>
              </a:solidFill>
              <a:latin typeface="TT Hoves" panose="02000003020000060003"/>
              <a:ea typeface="TT Hoves" panose="02000003020000060003"/>
              <a:cs typeface="TT Hoves" panose="02000003020000060003"/>
              <a:sym typeface="TT Hoves" panose="02000003020000060003"/>
            </a:endParaRPr>
          </a:p>
          <a:p>
            <a:pPr marL="1187450" lvl="1" indent="-593725" algn="l">
              <a:lnSpc>
                <a:spcPts val="7700"/>
              </a:lnSpc>
              <a:buFont typeface="Arial" panose="020B0604020202020204"/>
              <a:buChar char="•"/>
            </a:pPr>
            <a:r>
              <a:rPr lang="en-US" sz="5500">
                <a:solidFill>
                  <a:srgbClr val="171C24"/>
                </a:solidFill>
                <a:latin typeface="TT Hoves" panose="02000003020000060003"/>
                <a:ea typeface="TT Hoves" panose="02000003020000060003"/>
                <a:cs typeface="TT Hoves" panose="02000003020000060003"/>
                <a:sym typeface="TT Hoves" panose="02000003020000060003"/>
              </a:rPr>
              <a:t>Ant Colony is</a:t>
            </a:r>
            <a:r>
              <a:rPr lang="en-US" sz="5500">
                <a:solidFill>
                  <a:srgbClr val="171C24"/>
                </a:solidFill>
                <a:latin typeface="TT Hoves" panose="02000003020000060003"/>
                <a:ea typeface="TT Hoves" panose="02000003020000060003"/>
                <a:cs typeface="TT Hoves" panose="02000003020000060003"/>
                <a:sym typeface="TT Hoves" panose="02000003020000060003"/>
              </a:rPr>
              <a:t> fast.</a:t>
            </a:r>
            <a:endParaRPr lang="en-US" sz="5500">
              <a:solidFill>
                <a:srgbClr val="171C24"/>
              </a:solidFill>
              <a:latin typeface="TT Hoves" panose="02000003020000060003"/>
              <a:ea typeface="TT Hoves" panose="02000003020000060003"/>
              <a:cs typeface="TT Hoves" panose="02000003020000060003"/>
              <a:sym typeface="TT Hoves" panose="02000003020000060003"/>
            </a:endParaRPr>
          </a:p>
          <a:p>
            <a:pPr marL="1187450" lvl="1" indent="-593725" algn="l">
              <a:lnSpc>
                <a:spcPts val="7700"/>
              </a:lnSpc>
              <a:buFont typeface="Arial" panose="020B0604020202020204"/>
              <a:buChar char="•"/>
            </a:pPr>
            <a:r>
              <a:rPr lang="en-US" sz="5500">
                <a:solidFill>
                  <a:srgbClr val="171C24"/>
                </a:solidFill>
                <a:latin typeface="TT Hoves" panose="02000003020000060003"/>
                <a:ea typeface="TT Hoves" panose="02000003020000060003"/>
                <a:cs typeface="TT Hoves" panose="02000003020000060003"/>
                <a:sym typeface="TT Hoves" panose="02000003020000060003"/>
              </a:rPr>
              <a:t>Key Concept: Pheromones (Scent trails).</a:t>
            </a:r>
            <a:endParaRPr lang="en-US" sz="5500">
              <a:solidFill>
                <a:srgbClr val="171C24"/>
              </a:solidFill>
              <a:latin typeface="TT Hoves" panose="02000003020000060003"/>
              <a:ea typeface="TT Hoves" panose="02000003020000060003"/>
              <a:cs typeface="TT Hoves" panose="02000003020000060003"/>
              <a:sym typeface="TT Hoves" panose="02000003020000060003"/>
            </a:endParaRPr>
          </a:p>
          <a:p>
            <a:pPr algn="l">
              <a:lnSpc>
                <a:spcPts val="7700"/>
              </a:lnSpc>
            </a:pPr>
          </a:p>
        </p:txBody>
      </p:sp>
      <p:sp>
        <p:nvSpPr>
          <p:cNvPr id="3" name="TextBox 3"/>
          <p:cNvSpPr txBox="1"/>
          <p:nvPr/>
        </p:nvSpPr>
        <p:spPr>
          <a:xfrm>
            <a:off x="-434667" y="314327"/>
            <a:ext cx="19157333" cy="1285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00"/>
              </a:lnSpc>
              <a:spcBef>
                <a:spcPct val="0"/>
              </a:spcBef>
            </a:pPr>
            <a:r>
              <a:rPr lang="en-US" sz="7500" b="1">
                <a:solidFill>
                  <a:srgbClr val="171C24"/>
                </a:solidFill>
                <a:latin typeface="TT Hoves Bold" panose="02000003020000060003"/>
                <a:ea typeface="TT Hoves Bold" panose="02000003020000060003"/>
                <a:cs typeface="TT Hoves Bold" panose="02000003020000060003"/>
                <a:sym typeface="TT Hoves Bold" panose="02000003020000060003"/>
              </a:rPr>
              <a:t>Algorit</a:t>
            </a:r>
            <a:r>
              <a:rPr lang="en-US" sz="7500" b="1">
                <a:solidFill>
                  <a:srgbClr val="171C24"/>
                </a:solidFill>
                <a:latin typeface="TT Hoves Bold" panose="02000003020000060003"/>
                <a:ea typeface="TT Hoves Bold" panose="02000003020000060003"/>
                <a:cs typeface="TT Hoves Bold" panose="02000003020000060003"/>
                <a:sym typeface="TT Hoves Bold" panose="02000003020000060003"/>
              </a:rPr>
              <a:t>hm 2 - Ant Colony Optimization</a:t>
            </a:r>
            <a:endParaRPr lang="en-US" sz="7500" b="1">
              <a:solidFill>
                <a:srgbClr val="171C24"/>
              </a:solidFill>
              <a:latin typeface="TT Hoves Bold" panose="02000003020000060003"/>
              <a:ea typeface="TT Hoves Bold" panose="02000003020000060003"/>
              <a:cs typeface="TT Hoves Bold" panose="02000003020000060003"/>
              <a:sym typeface="TT Hoves Bold" panose="02000003020000060003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434667" y="314327"/>
            <a:ext cx="19157333" cy="1285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00"/>
              </a:lnSpc>
              <a:spcBef>
                <a:spcPct val="0"/>
              </a:spcBef>
            </a:pPr>
            <a:r>
              <a:rPr lang="en-US" sz="7500" b="1">
                <a:solidFill>
                  <a:srgbClr val="171C24"/>
                </a:solidFill>
                <a:latin typeface="TT Hoves Bold" panose="02000003020000060003"/>
                <a:ea typeface="TT Hoves Bold" panose="02000003020000060003"/>
                <a:cs typeface="TT Hoves Bold" panose="02000003020000060003"/>
                <a:sym typeface="TT Hoves Bold" panose="02000003020000060003"/>
              </a:rPr>
              <a:t>Algorithmic Analysis</a:t>
            </a:r>
            <a:endParaRPr lang="en-US" sz="7500" b="1">
              <a:solidFill>
                <a:srgbClr val="171C24"/>
              </a:solidFill>
              <a:latin typeface="TT Hoves Bold" panose="02000003020000060003"/>
              <a:ea typeface="TT Hoves Bold" panose="02000003020000060003"/>
              <a:cs typeface="TT Hoves Bold" panose="02000003020000060003"/>
              <a:sym typeface="TT Hoves Bold" panose="02000003020000060003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478145" y="2257061"/>
            <a:ext cx="8390578" cy="4660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3475" b="1">
                <a:solidFill>
                  <a:srgbClr val="171C24"/>
                </a:solidFill>
                <a:latin typeface="TT Hoves Bold" panose="02000003020000060003"/>
                <a:ea typeface="TT Hoves Bold" panose="02000003020000060003"/>
                <a:cs typeface="TT Hoves Bold" panose="02000003020000060003"/>
                <a:sym typeface="TT Hoves Bold" panose="02000003020000060003"/>
              </a:rPr>
              <a:t>Pros (Advantages):</a:t>
            </a:r>
            <a:endParaRPr lang="en-US" sz="3475" b="1">
              <a:solidFill>
                <a:srgbClr val="171C24"/>
              </a:solidFill>
              <a:latin typeface="TT Hoves Bold" panose="02000003020000060003"/>
              <a:ea typeface="TT Hoves Bold" panose="02000003020000060003"/>
              <a:cs typeface="TT Hoves Bold" panose="02000003020000060003"/>
              <a:sym typeface="TT Hoves Bold" panose="02000003020000060003"/>
            </a:endParaRPr>
          </a:p>
          <a:p>
            <a:pPr algn="l">
              <a:lnSpc>
                <a:spcPts val="4860"/>
              </a:lnSpc>
            </a:pPr>
            <a:r>
              <a:rPr lang="en-US" sz="3475">
                <a:solidFill>
                  <a:srgbClr val="171C24"/>
                </a:solidFill>
                <a:latin typeface="TT Hoves" panose="02000003020000060003"/>
                <a:ea typeface="TT Hoves" panose="02000003020000060003"/>
                <a:cs typeface="TT Hoves" panose="02000003020000060003"/>
                <a:sym typeface="TT Hoves" panose="02000003020000060003"/>
              </a:rPr>
              <a:t>✅ Highly Scalable: Can solve large problems () in seconds.</a:t>
            </a:r>
            <a:endParaRPr lang="en-US" sz="3475">
              <a:solidFill>
                <a:srgbClr val="171C24"/>
              </a:solidFill>
              <a:latin typeface="TT Hoves" panose="02000003020000060003"/>
              <a:ea typeface="TT Hoves" panose="02000003020000060003"/>
              <a:cs typeface="TT Hoves" panose="02000003020000060003"/>
              <a:sym typeface="TT Hoves" panose="02000003020000060003"/>
            </a:endParaRPr>
          </a:p>
          <a:p>
            <a:pPr algn="l">
              <a:lnSpc>
                <a:spcPts val="4860"/>
              </a:lnSpc>
            </a:pPr>
            <a:r>
              <a:rPr lang="en-US" sz="3475">
                <a:solidFill>
                  <a:srgbClr val="171C24"/>
                </a:solidFill>
                <a:latin typeface="TT Hoves" panose="02000003020000060003"/>
                <a:ea typeface="TT Hoves" panose="02000003020000060003"/>
                <a:cs typeface="TT Hoves" panose="02000003020000060003"/>
                <a:sym typeface="TT Hoves" panose="02000003020000060003"/>
              </a:rPr>
              <a:t>✅ Fast Convergence: Polynomial Time (). It finds good paths almost instantly.</a:t>
            </a:r>
            <a:endParaRPr lang="en-US" sz="3475">
              <a:solidFill>
                <a:srgbClr val="171C24"/>
              </a:solidFill>
              <a:latin typeface="TT Hoves" panose="02000003020000060003"/>
              <a:ea typeface="TT Hoves" panose="02000003020000060003"/>
              <a:cs typeface="TT Hoves" panose="02000003020000060003"/>
              <a:sym typeface="TT Hoves" panose="02000003020000060003"/>
            </a:endParaRPr>
          </a:p>
          <a:p>
            <a:pPr algn="l">
              <a:lnSpc>
                <a:spcPts val="4860"/>
              </a:lnSpc>
            </a:pPr>
            <a:r>
              <a:rPr lang="en-US" sz="3475">
                <a:solidFill>
                  <a:srgbClr val="171C24"/>
                </a:solidFill>
                <a:latin typeface="TT Hoves" panose="02000003020000060003"/>
                <a:ea typeface="TT Hoves" panose="02000003020000060003"/>
                <a:cs typeface="TT Hoves" panose="02000003020000060003"/>
                <a:sym typeface="TT Hoves" panose="02000003020000060003"/>
              </a:rPr>
              <a:t>✅ Adaptive: The "Pheromone" system allows it to learn and escape local traps.</a:t>
            </a:r>
            <a:endParaRPr lang="en-US" sz="3475">
              <a:solidFill>
                <a:srgbClr val="171C24"/>
              </a:solidFill>
              <a:latin typeface="TT Hoves" panose="02000003020000060003"/>
              <a:ea typeface="TT Hoves" panose="02000003020000060003"/>
              <a:cs typeface="TT Hoves" panose="02000003020000060003"/>
              <a:sym typeface="TT Hoves" panose="02000003020000060003"/>
            </a:endParaRPr>
          </a:p>
          <a:p>
            <a:pPr algn="l">
              <a:lnSpc>
                <a:spcPts val="3180"/>
              </a:lnSpc>
            </a:pPr>
          </a:p>
        </p:txBody>
      </p:sp>
      <p:sp>
        <p:nvSpPr>
          <p:cNvPr id="4" name="TextBox 4"/>
          <p:cNvSpPr txBox="1"/>
          <p:nvPr/>
        </p:nvSpPr>
        <p:spPr>
          <a:xfrm>
            <a:off x="9144000" y="2257061"/>
            <a:ext cx="8390578" cy="64897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3475" b="1">
                <a:solidFill>
                  <a:srgbClr val="171C24"/>
                </a:solidFill>
                <a:latin typeface="TT Hoves Bold" panose="02000003020000060003"/>
                <a:ea typeface="TT Hoves Bold" panose="02000003020000060003"/>
                <a:cs typeface="TT Hoves Bold" panose="02000003020000060003"/>
                <a:sym typeface="TT Hoves Bold" panose="02000003020000060003"/>
              </a:rPr>
              <a:t>Cons (Disadvantages):</a:t>
            </a:r>
            <a:endParaRPr lang="en-US" sz="3475" b="1">
              <a:solidFill>
                <a:srgbClr val="171C24"/>
              </a:solidFill>
              <a:latin typeface="TT Hoves Bold" panose="02000003020000060003"/>
              <a:ea typeface="TT Hoves Bold" panose="02000003020000060003"/>
              <a:cs typeface="TT Hoves Bold" panose="02000003020000060003"/>
              <a:sym typeface="TT Hoves Bold" panose="02000003020000060003"/>
            </a:endParaRPr>
          </a:p>
          <a:p>
            <a:pPr algn="l">
              <a:lnSpc>
                <a:spcPts val="4860"/>
              </a:lnSpc>
            </a:pPr>
            <a:r>
              <a:rPr lang="en-US" sz="3475">
                <a:solidFill>
                  <a:srgbClr val="171C24"/>
                </a:solidFill>
                <a:latin typeface="TT Hoves" panose="02000003020000060003"/>
                <a:ea typeface="TT Hoves" panose="02000003020000060003"/>
                <a:cs typeface="TT Hoves" panose="02000003020000060003"/>
                <a:sym typeface="TT Hoves" panose="02000003020000060003"/>
              </a:rPr>
              <a:t>⚠️ Approximate Solution: It does not guarantee the perfect answer (usually 98-99% accurate).</a:t>
            </a:r>
            <a:endParaRPr lang="en-US" sz="3475">
              <a:solidFill>
                <a:srgbClr val="171C24"/>
              </a:solidFill>
              <a:latin typeface="TT Hoves" panose="02000003020000060003"/>
              <a:ea typeface="TT Hoves" panose="02000003020000060003"/>
              <a:cs typeface="TT Hoves" panose="02000003020000060003"/>
              <a:sym typeface="TT Hoves" panose="02000003020000060003"/>
            </a:endParaRPr>
          </a:p>
          <a:p>
            <a:pPr algn="l">
              <a:lnSpc>
                <a:spcPts val="4860"/>
              </a:lnSpc>
            </a:pPr>
            <a:r>
              <a:rPr lang="en-US" sz="3475">
                <a:solidFill>
                  <a:srgbClr val="171C24"/>
                </a:solidFill>
                <a:latin typeface="TT Hoves" panose="02000003020000060003"/>
                <a:ea typeface="TT Hoves" panose="02000003020000060003"/>
                <a:cs typeface="TT Hoves" panose="02000003020000060003"/>
                <a:sym typeface="TT Hoves" panose="02000003020000060003"/>
              </a:rPr>
              <a:t>⚠️ Probabilistic: Different runs can give slightly different results due to randomness..</a:t>
            </a:r>
            <a:endParaRPr lang="en-US" sz="3475">
              <a:solidFill>
                <a:srgbClr val="171C24"/>
              </a:solidFill>
              <a:latin typeface="TT Hoves" panose="02000003020000060003"/>
              <a:ea typeface="TT Hoves" panose="02000003020000060003"/>
              <a:cs typeface="TT Hoves" panose="02000003020000060003"/>
              <a:sym typeface="TT Hoves" panose="02000003020000060003"/>
            </a:endParaRPr>
          </a:p>
          <a:p>
            <a:pPr algn="l">
              <a:lnSpc>
                <a:spcPts val="4860"/>
              </a:lnSpc>
            </a:pPr>
            <a:r>
              <a:rPr lang="en-US" sz="3475">
                <a:solidFill>
                  <a:srgbClr val="171C24"/>
                </a:solidFill>
                <a:latin typeface="TT Hoves" panose="02000003020000060003"/>
                <a:ea typeface="TT Hoves" panose="02000003020000060003"/>
                <a:cs typeface="TT Hoves" panose="02000003020000060003"/>
                <a:sym typeface="TT Hoves" panose="02000003020000060003"/>
              </a:rPr>
              <a:t>⚠️ Complex Tuning: Requires careful tuning of parameters (Alpha, Beta, Evaporation) to work well.</a:t>
            </a:r>
            <a:endParaRPr lang="en-US" sz="3475">
              <a:solidFill>
                <a:srgbClr val="171C24"/>
              </a:solidFill>
              <a:latin typeface="TT Hoves" panose="02000003020000060003"/>
              <a:ea typeface="TT Hoves" panose="02000003020000060003"/>
              <a:cs typeface="TT Hoves" panose="02000003020000060003"/>
              <a:sym typeface="TT Hoves" panose="02000003020000060003"/>
            </a:endParaRPr>
          </a:p>
          <a:p>
            <a:pPr algn="l">
              <a:lnSpc>
                <a:spcPts val="3180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40433" y="2202597"/>
            <a:ext cx="16018867" cy="6765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187450" lvl="1" indent="-593725" algn="l">
              <a:lnSpc>
                <a:spcPts val="7700"/>
              </a:lnSpc>
              <a:buFont typeface="Arial" panose="020B0604020202020204"/>
              <a:buChar char="•"/>
            </a:pPr>
            <a:r>
              <a:rPr lang="en-US" sz="5500">
                <a:solidFill>
                  <a:srgbClr val="171C24"/>
                </a:solidFill>
                <a:latin typeface="TT Hoves" panose="02000003020000060003"/>
                <a:ea typeface="TT Hoves" panose="02000003020000060003"/>
                <a:cs typeface="TT Hoves" panose="02000003020000060003"/>
                <a:sym typeface="TT Hoves" panose="02000003020000060003"/>
              </a:rPr>
              <a:t>Table:</a:t>
            </a:r>
            <a:endParaRPr lang="en-US" sz="5500">
              <a:solidFill>
                <a:srgbClr val="171C24"/>
              </a:solidFill>
              <a:latin typeface="TT Hoves" panose="02000003020000060003"/>
              <a:ea typeface="TT Hoves" panose="02000003020000060003"/>
              <a:cs typeface="TT Hoves" panose="02000003020000060003"/>
              <a:sym typeface="TT Hoves" panose="02000003020000060003"/>
            </a:endParaRPr>
          </a:p>
          <a:p>
            <a:pPr marL="1187450" lvl="1" indent="-593725" algn="l">
              <a:lnSpc>
                <a:spcPts val="7700"/>
              </a:lnSpc>
              <a:buFont typeface="Arial" panose="020B0604020202020204"/>
              <a:buChar char="•"/>
            </a:pPr>
            <a:r>
              <a:rPr lang="en-US" sz="5500">
                <a:solidFill>
                  <a:srgbClr val="171C24"/>
                </a:solidFill>
                <a:latin typeface="TT Hoves" panose="02000003020000060003"/>
                <a:ea typeface="TT Hoves" panose="02000003020000060003"/>
                <a:cs typeface="TT Hoves" panose="02000003020000060003"/>
                <a:sym typeface="TT Hoves" panose="02000003020000060003"/>
              </a:rPr>
              <a:t>Sm</a:t>
            </a:r>
            <a:r>
              <a:rPr lang="en-US" sz="5500">
                <a:solidFill>
                  <a:srgbClr val="171C24"/>
                </a:solidFill>
                <a:latin typeface="TT Hoves" panose="02000003020000060003"/>
                <a:ea typeface="TT Hoves" panose="02000003020000060003"/>
                <a:cs typeface="TT Hoves" panose="02000003020000060003"/>
                <a:sym typeface="TT Hoves" panose="02000003020000060003"/>
              </a:rPr>
              <a:t>all Input (N=12): Branch &amp; Bound is better (100% Accurate).</a:t>
            </a:r>
            <a:endParaRPr lang="en-US" sz="5500">
              <a:solidFill>
                <a:srgbClr val="171C24"/>
              </a:solidFill>
              <a:latin typeface="TT Hoves" panose="02000003020000060003"/>
              <a:ea typeface="TT Hoves" panose="02000003020000060003"/>
              <a:cs typeface="TT Hoves" panose="02000003020000060003"/>
              <a:sym typeface="TT Hoves" panose="02000003020000060003"/>
            </a:endParaRPr>
          </a:p>
          <a:p>
            <a:pPr marL="1187450" lvl="1" indent="-593725" algn="l">
              <a:lnSpc>
                <a:spcPts val="7700"/>
              </a:lnSpc>
              <a:buFont typeface="Arial" panose="020B0604020202020204"/>
              <a:buChar char="•"/>
            </a:pPr>
            <a:r>
              <a:rPr lang="en-US" sz="5500">
                <a:solidFill>
                  <a:srgbClr val="171C24"/>
                </a:solidFill>
                <a:latin typeface="TT Hoves" panose="02000003020000060003"/>
                <a:ea typeface="TT Hoves" panose="02000003020000060003"/>
                <a:cs typeface="TT Hoves" panose="02000003020000060003"/>
                <a:sym typeface="TT Hoves" panose="02000003020000060003"/>
              </a:rPr>
              <a:t>Large Input (N=20+): Ant Colony is</a:t>
            </a:r>
            <a:r>
              <a:rPr lang="en-US" sz="5500">
                <a:solidFill>
                  <a:srgbClr val="171C24"/>
                </a:solidFill>
                <a:latin typeface="TT Hoves" panose="02000003020000060003"/>
                <a:ea typeface="TT Hoves" panose="02000003020000060003"/>
                <a:cs typeface="TT Hoves" panose="02000003020000060003"/>
                <a:sym typeface="TT Hoves" panose="02000003020000060003"/>
              </a:rPr>
              <a:t> better (Does not crash).</a:t>
            </a:r>
            <a:endParaRPr lang="en-US" sz="5500">
              <a:solidFill>
                <a:srgbClr val="171C24"/>
              </a:solidFill>
              <a:latin typeface="TT Hoves" panose="02000003020000060003"/>
              <a:ea typeface="TT Hoves" panose="02000003020000060003"/>
              <a:cs typeface="TT Hoves" panose="02000003020000060003"/>
              <a:sym typeface="TT Hoves" panose="02000003020000060003"/>
            </a:endParaRPr>
          </a:p>
          <a:p>
            <a:pPr marL="1187450" lvl="1" indent="-593725" algn="l">
              <a:lnSpc>
                <a:spcPts val="7700"/>
              </a:lnSpc>
              <a:buFont typeface="Arial" panose="020B0604020202020204"/>
              <a:buChar char="•"/>
            </a:pPr>
            <a:r>
              <a:rPr lang="en-US" sz="5500">
                <a:solidFill>
                  <a:srgbClr val="171C24"/>
                </a:solidFill>
                <a:latin typeface="TT Hoves" panose="02000003020000060003"/>
                <a:ea typeface="TT Hoves" panose="02000003020000060003"/>
                <a:cs typeface="TT Hoves" panose="02000003020000060003"/>
                <a:sym typeface="TT Hoves" panose="02000003020000060003"/>
              </a:rPr>
              <a:t>Trade-off: Speed vs. Accuracy.</a:t>
            </a:r>
            <a:endParaRPr lang="en-US" sz="5500">
              <a:solidFill>
                <a:srgbClr val="171C24"/>
              </a:solidFill>
              <a:latin typeface="TT Hoves" panose="02000003020000060003"/>
              <a:ea typeface="TT Hoves" panose="02000003020000060003"/>
              <a:cs typeface="TT Hoves" panose="02000003020000060003"/>
              <a:sym typeface="TT Hoves" panose="02000003020000060003"/>
            </a:endParaRPr>
          </a:p>
          <a:p>
            <a:pPr algn="l">
              <a:lnSpc>
                <a:spcPts val="7700"/>
              </a:lnSpc>
            </a:pPr>
          </a:p>
        </p:txBody>
      </p:sp>
      <p:sp>
        <p:nvSpPr>
          <p:cNvPr id="3" name="TextBox 3"/>
          <p:cNvSpPr txBox="1"/>
          <p:nvPr/>
        </p:nvSpPr>
        <p:spPr>
          <a:xfrm>
            <a:off x="-434667" y="314327"/>
            <a:ext cx="19157333" cy="1285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00"/>
              </a:lnSpc>
              <a:spcBef>
                <a:spcPct val="0"/>
              </a:spcBef>
            </a:pPr>
            <a:r>
              <a:rPr lang="en-US" sz="7500" b="1">
                <a:solidFill>
                  <a:srgbClr val="171C24"/>
                </a:solidFill>
                <a:latin typeface="TT Hoves Bold" panose="02000003020000060003"/>
                <a:ea typeface="TT Hoves Bold" panose="02000003020000060003"/>
                <a:cs typeface="TT Hoves Bold" panose="02000003020000060003"/>
                <a:sym typeface="TT Hoves Bold" panose="02000003020000060003"/>
              </a:rPr>
              <a:t>Compariso</a:t>
            </a:r>
            <a:r>
              <a:rPr lang="en-US" sz="7500" b="1">
                <a:solidFill>
                  <a:srgbClr val="171C24"/>
                </a:solidFill>
                <a:latin typeface="TT Hoves Bold" panose="02000003020000060003"/>
                <a:ea typeface="TT Hoves Bold" panose="02000003020000060003"/>
                <a:cs typeface="TT Hoves Bold" panose="02000003020000060003"/>
                <a:sym typeface="TT Hoves Bold" panose="02000003020000060003"/>
              </a:rPr>
              <a:t>n (My Result)</a:t>
            </a:r>
            <a:endParaRPr lang="en-US" sz="7500" b="1">
              <a:solidFill>
                <a:srgbClr val="171C24"/>
              </a:solidFill>
              <a:latin typeface="TT Hoves Bold" panose="02000003020000060003"/>
              <a:ea typeface="TT Hoves Bold" panose="02000003020000060003"/>
              <a:cs typeface="TT Hoves Bold" panose="02000003020000060003"/>
              <a:sym typeface="TT Hoves Bold" panose="02000003020000060003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/>
          <a:p>
            <a:endParaRPr lang="en-GB" altLang="en-US"/>
          </a:p>
        </p:txBody>
      </p:sp>
      <p:grpSp>
        <p:nvGrpSpPr>
          <p:cNvPr id="3" name="Group 3"/>
          <p:cNvGrpSpPr/>
          <p:nvPr/>
        </p:nvGrpSpPr>
        <p:grpSpPr>
          <a:xfrm rot="0">
            <a:off x="3012647" y="3960833"/>
            <a:ext cx="666750" cy="666750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211C73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146050"/>
              <a:ext cx="711200" cy="463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grpSp>
        <p:nvGrpSpPr>
          <p:cNvPr id="6" name="Group 6"/>
          <p:cNvGrpSpPr/>
          <p:nvPr/>
        </p:nvGrpSpPr>
        <p:grpSpPr>
          <a:xfrm rot="0">
            <a:off x="5678802" y="3960833"/>
            <a:ext cx="666750" cy="66675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2F27A8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146050"/>
              <a:ext cx="711200" cy="463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grpSp>
        <p:nvGrpSpPr>
          <p:cNvPr id="9" name="Group 9"/>
          <p:cNvGrpSpPr/>
          <p:nvPr/>
        </p:nvGrpSpPr>
        <p:grpSpPr>
          <a:xfrm rot="0">
            <a:off x="1559805" y="3470253"/>
            <a:ext cx="1647909" cy="1647909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11C73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grpSp>
        <p:nvGrpSpPr>
          <p:cNvPr id="12" name="Group 12"/>
          <p:cNvGrpSpPr/>
          <p:nvPr/>
        </p:nvGrpSpPr>
        <p:grpSpPr>
          <a:xfrm rot="0">
            <a:off x="4228904" y="3470253"/>
            <a:ext cx="1647909" cy="1647909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F27A8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grpSp>
        <p:nvGrpSpPr>
          <p:cNvPr id="15" name="Group 15"/>
          <p:cNvGrpSpPr/>
          <p:nvPr/>
        </p:nvGrpSpPr>
        <p:grpSpPr>
          <a:xfrm rot="0">
            <a:off x="8367879" y="3960833"/>
            <a:ext cx="666750" cy="666750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42003B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146050"/>
              <a:ext cx="711200" cy="463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grpSp>
        <p:nvGrpSpPr>
          <p:cNvPr id="18" name="Group 18"/>
          <p:cNvGrpSpPr/>
          <p:nvPr/>
        </p:nvGrpSpPr>
        <p:grpSpPr>
          <a:xfrm rot="0">
            <a:off x="11017928" y="3960833"/>
            <a:ext cx="666750" cy="666750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66165D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146050"/>
              <a:ext cx="711200" cy="463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grpSp>
        <p:nvGrpSpPr>
          <p:cNvPr id="21" name="Group 21"/>
          <p:cNvGrpSpPr/>
          <p:nvPr/>
        </p:nvGrpSpPr>
        <p:grpSpPr>
          <a:xfrm rot="0">
            <a:off x="13687026" y="3960833"/>
            <a:ext cx="666750" cy="666750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BD1F76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146050"/>
              <a:ext cx="711200" cy="463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grpSp>
        <p:nvGrpSpPr>
          <p:cNvPr id="24" name="Group 24"/>
          <p:cNvGrpSpPr/>
          <p:nvPr/>
        </p:nvGrpSpPr>
        <p:grpSpPr>
          <a:xfrm rot="0">
            <a:off x="16356125" y="3960833"/>
            <a:ext cx="666750" cy="666750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FB366B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146050"/>
              <a:ext cx="711200" cy="463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grpSp>
        <p:nvGrpSpPr>
          <p:cNvPr id="27" name="Group 27"/>
          <p:cNvGrpSpPr/>
          <p:nvPr/>
        </p:nvGrpSpPr>
        <p:grpSpPr>
          <a:xfrm rot="0">
            <a:off x="6898002" y="3470253"/>
            <a:ext cx="1647909" cy="1647909"/>
            <a:chOff x="0" y="0"/>
            <a:chExt cx="8128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2003B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grpSp>
        <p:nvGrpSpPr>
          <p:cNvPr id="30" name="Group 30"/>
          <p:cNvGrpSpPr/>
          <p:nvPr/>
        </p:nvGrpSpPr>
        <p:grpSpPr>
          <a:xfrm rot="0">
            <a:off x="9567101" y="3470253"/>
            <a:ext cx="1647909" cy="1647909"/>
            <a:chOff x="0" y="0"/>
            <a:chExt cx="812800" cy="8128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6165D"/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grpSp>
        <p:nvGrpSpPr>
          <p:cNvPr id="33" name="Group 33"/>
          <p:cNvGrpSpPr/>
          <p:nvPr/>
        </p:nvGrpSpPr>
        <p:grpSpPr>
          <a:xfrm rot="0">
            <a:off x="12236199" y="3470253"/>
            <a:ext cx="1647909" cy="1647909"/>
            <a:chOff x="0" y="0"/>
            <a:chExt cx="812800" cy="8128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D1F76"/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grpSp>
        <p:nvGrpSpPr>
          <p:cNvPr id="36" name="Group 36"/>
          <p:cNvGrpSpPr/>
          <p:nvPr/>
        </p:nvGrpSpPr>
        <p:grpSpPr>
          <a:xfrm rot="0">
            <a:off x="14905298" y="3470253"/>
            <a:ext cx="1647909" cy="1647909"/>
            <a:chOff x="0" y="0"/>
            <a:chExt cx="812800" cy="8128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366B"/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id="39" name="Freeform 39"/>
          <p:cNvSpPr/>
          <p:nvPr/>
        </p:nvSpPr>
        <p:spPr>
          <a:xfrm>
            <a:off x="1758902" y="3664917"/>
            <a:ext cx="1533855" cy="1533855"/>
          </a:xfrm>
          <a:custGeom>
            <a:avLst/>
            <a:gdLst/>
            <a:ahLst/>
            <a:cxnLst/>
            <a:rect l="l" t="t" r="r" b="b"/>
            <a:pathLst>
              <a:path w="1533855" h="1533855">
                <a:moveTo>
                  <a:pt x="0" y="0"/>
                </a:moveTo>
                <a:lnTo>
                  <a:pt x="1533854" y="0"/>
                </a:lnTo>
                <a:lnTo>
                  <a:pt x="1533854" y="1533855"/>
                </a:lnTo>
                <a:lnTo>
                  <a:pt x="0" y="153385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6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40" name="Group 40"/>
          <p:cNvGrpSpPr/>
          <p:nvPr/>
        </p:nvGrpSpPr>
        <p:grpSpPr>
          <a:xfrm rot="0">
            <a:off x="1758902" y="3664917"/>
            <a:ext cx="1253745" cy="1253745"/>
            <a:chOff x="0" y="0"/>
            <a:chExt cx="812800" cy="8128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2" name="TextBox 4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id="43" name="Freeform 43"/>
          <p:cNvSpPr/>
          <p:nvPr/>
        </p:nvSpPr>
        <p:spPr>
          <a:xfrm>
            <a:off x="4425985" y="3664917"/>
            <a:ext cx="1533525" cy="1533525"/>
          </a:xfrm>
          <a:custGeom>
            <a:avLst/>
            <a:gdLst/>
            <a:ahLst/>
            <a:cxnLst/>
            <a:rect l="l" t="t" r="r" b="b"/>
            <a:pathLst>
              <a:path w="1533525" h="1533525">
                <a:moveTo>
                  <a:pt x="0" y="0"/>
                </a:moveTo>
                <a:lnTo>
                  <a:pt x="1533525" y="0"/>
                </a:lnTo>
                <a:lnTo>
                  <a:pt x="1533525" y="1533525"/>
                </a:lnTo>
                <a:lnTo>
                  <a:pt x="0" y="153352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6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44" name="Group 44"/>
          <p:cNvGrpSpPr/>
          <p:nvPr/>
        </p:nvGrpSpPr>
        <p:grpSpPr>
          <a:xfrm rot="0">
            <a:off x="4425985" y="3664917"/>
            <a:ext cx="1253745" cy="1253745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6" name="TextBox 4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id="47" name="Freeform 47"/>
          <p:cNvSpPr/>
          <p:nvPr/>
        </p:nvSpPr>
        <p:spPr>
          <a:xfrm>
            <a:off x="7095084" y="3664917"/>
            <a:ext cx="1533525" cy="1533525"/>
          </a:xfrm>
          <a:custGeom>
            <a:avLst/>
            <a:gdLst/>
            <a:ahLst/>
            <a:cxnLst/>
            <a:rect l="l" t="t" r="r" b="b"/>
            <a:pathLst>
              <a:path w="1533525" h="1533525">
                <a:moveTo>
                  <a:pt x="0" y="0"/>
                </a:moveTo>
                <a:lnTo>
                  <a:pt x="1533525" y="0"/>
                </a:lnTo>
                <a:lnTo>
                  <a:pt x="1533525" y="1533525"/>
                </a:lnTo>
                <a:lnTo>
                  <a:pt x="0" y="153352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6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48" name="Group 48"/>
          <p:cNvGrpSpPr/>
          <p:nvPr/>
        </p:nvGrpSpPr>
        <p:grpSpPr>
          <a:xfrm rot="0">
            <a:off x="7095084" y="3664917"/>
            <a:ext cx="1253745" cy="1253745"/>
            <a:chOff x="0" y="0"/>
            <a:chExt cx="812800" cy="81280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0" name="TextBox 5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id="51" name="Freeform 51"/>
          <p:cNvSpPr/>
          <p:nvPr/>
        </p:nvSpPr>
        <p:spPr>
          <a:xfrm>
            <a:off x="9764182" y="3664917"/>
            <a:ext cx="1533525" cy="1533525"/>
          </a:xfrm>
          <a:custGeom>
            <a:avLst/>
            <a:gdLst/>
            <a:ahLst/>
            <a:cxnLst/>
            <a:rect l="l" t="t" r="r" b="b"/>
            <a:pathLst>
              <a:path w="1533525" h="1533525">
                <a:moveTo>
                  <a:pt x="0" y="0"/>
                </a:moveTo>
                <a:lnTo>
                  <a:pt x="1533525" y="0"/>
                </a:lnTo>
                <a:lnTo>
                  <a:pt x="1533525" y="1533525"/>
                </a:lnTo>
                <a:lnTo>
                  <a:pt x="0" y="153352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6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52" name="Group 52"/>
          <p:cNvGrpSpPr/>
          <p:nvPr/>
        </p:nvGrpSpPr>
        <p:grpSpPr>
          <a:xfrm rot="0">
            <a:off x="9764182" y="3664917"/>
            <a:ext cx="1253745" cy="1253745"/>
            <a:chOff x="0" y="0"/>
            <a:chExt cx="812800" cy="81280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4" name="TextBox 5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id="55" name="Freeform 55"/>
          <p:cNvSpPr/>
          <p:nvPr/>
        </p:nvSpPr>
        <p:spPr>
          <a:xfrm>
            <a:off x="12433281" y="3664917"/>
            <a:ext cx="1533525" cy="1533525"/>
          </a:xfrm>
          <a:custGeom>
            <a:avLst/>
            <a:gdLst/>
            <a:ahLst/>
            <a:cxnLst/>
            <a:rect l="l" t="t" r="r" b="b"/>
            <a:pathLst>
              <a:path w="1533525" h="1533525">
                <a:moveTo>
                  <a:pt x="0" y="0"/>
                </a:moveTo>
                <a:lnTo>
                  <a:pt x="1533525" y="0"/>
                </a:lnTo>
                <a:lnTo>
                  <a:pt x="1533525" y="1533525"/>
                </a:lnTo>
                <a:lnTo>
                  <a:pt x="0" y="153352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6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56" name="Group 56"/>
          <p:cNvGrpSpPr/>
          <p:nvPr/>
        </p:nvGrpSpPr>
        <p:grpSpPr>
          <a:xfrm rot="0">
            <a:off x="12433281" y="3664917"/>
            <a:ext cx="1253745" cy="1253745"/>
            <a:chOff x="0" y="0"/>
            <a:chExt cx="812800" cy="81280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8" name="TextBox 58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id="59" name="Freeform 59"/>
          <p:cNvSpPr/>
          <p:nvPr/>
        </p:nvSpPr>
        <p:spPr>
          <a:xfrm>
            <a:off x="15102380" y="3664917"/>
            <a:ext cx="1533525" cy="1533525"/>
          </a:xfrm>
          <a:custGeom>
            <a:avLst/>
            <a:gdLst/>
            <a:ahLst/>
            <a:cxnLst/>
            <a:rect l="l" t="t" r="r" b="b"/>
            <a:pathLst>
              <a:path w="1533525" h="1533525">
                <a:moveTo>
                  <a:pt x="0" y="0"/>
                </a:moveTo>
                <a:lnTo>
                  <a:pt x="1533525" y="0"/>
                </a:lnTo>
                <a:lnTo>
                  <a:pt x="1533525" y="1533525"/>
                </a:lnTo>
                <a:lnTo>
                  <a:pt x="0" y="153352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6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60" name="Group 60"/>
          <p:cNvGrpSpPr/>
          <p:nvPr/>
        </p:nvGrpSpPr>
        <p:grpSpPr>
          <a:xfrm rot="0">
            <a:off x="15102380" y="3664917"/>
            <a:ext cx="1253745" cy="1253745"/>
            <a:chOff x="0" y="0"/>
            <a:chExt cx="812800" cy="81280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2" name="TextBox 6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id="63" name="Freeform 63"/>
          <p:cNvSpPr/>
          <p:nvPr/>
        </p:nvSpPr>
        <p:spPr>
          <a:xfrm>
            <a:off x="10041502" y="3958415"/>
            <a:ext cx="666750" cy="666750"/>
          </a:xfrm>
          <a:custGeom>
            <a:avLst/>
            <a:gdLst/>
            <a:ahLst/>
            <a:cxnLst/>
            <a:rect l="l" t="t" r="r" b="b"/>
            <a:pathLst>
              <a:path w="666750" h="666750">
                <a:moveTo>
                  <a:pt x="0" y="0"/>
                </a:moveTo>
                <a:lnTo>
                  <a:pt x="666750" y="0"/>
                </a:lnTo>
                <a:lnTo>
                  <a:pt x="666750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8" name="Freeform 68"/>
          <p:cNvSpPr/>
          <p:nvPr/>
        </p:nvSpPr>
        <p:spPr>
          <a:xfrm>
            <a:off x="1973698" y="3880611"/>
            <a:ext cx="727259" cy="752661"/>
          </a:xfrm>
          <a:custGeom>
            <a:avLst/>
            <a:gdLst/>
            <a:ahLst/>
            <a:cxnLst/>
            <a:rect l="l" t="t" r="r" b="b"/>
            <a:pathLst>
              <a:path w="727259" h="752661">
                <a:moveTo>
                  <a:pt x="0" y="0"/>
                </a:moveTo>
                <a:lnTo>
                  <a:pt x="727259" y="0"/>
                </a:lnTo>
                <a:lnTo>
                  <a:pt x="727259" y="752661"/>
                </a:lnTo>
                <a:lnTo>
                  <a:pt x="0" y="7526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69" name="Freeform 69"/>
          <p:cNvSpPr/>
          <p:nvPr/>
        </p:nvSpPr>
        <p:spPr>
          <a:xfrm>
            <a:off x="4819937" y="3838761"/>
            <a:ext cx="462261" cy="794511"/>
          </a:xfrm>
          <a:custGeom>
            <a:avLst/>
            <a:gdLst/>
            <a:ahLst/>
            <a:cxnLst/>
            <a:rect l="l" t="t" r="r" b="b"/>
            <a:pathLst>
              <a:path w="462261" h="794511">
                <a:moveTo>
                  <a:pt x="0" y="0"/>
                </a:moveTo>
                <a:lnTo>
                  <a:pt x="462261" y="0"/>
                </a:lnTo>
                <a:lnTo>
                  <a:pt x="462261" y="794511"/>
                </a:lnTo>
                <a:lnTo>
                  <a:pt x="0" y="79451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70" name="Freeform 70"/>
          <p:cNvSpPr/>
          <p:nvPr/>
        </p:nvSpPr>
        <p:spPr>
          <a:xfrm>
            <a:off x="7268783" y="3904167"/>
            <a:ext cx="775246" cy="775246"/>
          </a:xfrm>
          <a:custGeom>
            <a:avLst/>
            <a:gdLst/>
            <a:ahLst/>
            <a:cxnLst/>
            <a:rect l="l" t="t" r="r" b="b"/>
            <a:pathLst>
              <a:path w="775246" h="775246">
                <a:moveTo>
                  <a:pt x="0" y="0"/>
                </a:moveTo>
                <a:lnTo>
                  <a:pt x="775246" y="0"/>
                </a:lnTo>
                <a:lnTo>
                  <a:pt x="775246" y="775246"/>
                </a:lnTo>
                <a:lnTo>
                  <a:pt x="0" y="77524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71" name="Freeform 71"/>
          <p:cNvSpPr/>
          <p:nvPr/>
        </p:nvSpPr>
        <p:spPr>
          <a:xfrm>
            <a:off x="12756042" y="3916200"/>
            <a:ext cx="608224" cy="681484"/>
          </a:xfrm>
          <a:custGeom>
            <a:avLst/>
            <a:gdLst/>
            <a:ahLst/>
            <a:cxnLst/>
            <a:rect l="l" t="t" r="r" b="b"/>
            <a:pathLst>
              <a:path w="608224" h="681484">
                <a:moveTo>
                  <a:pt x="0" y="0"/>
                </a:moveTo>
                <a:lnTo>
                  <a:pt x="608224" y="0"/>
                </a:lnTo>
                <a:lnTo>
                  <a:pt x="608224" y="681484"/>
                </a:lnTo>
                <a:lnTo>
                  <a:pt x="0" y="681484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72" name="Freeform 72"/>
          <p:cNvSpPr/>
          <p:nvPr/>
        </p:nvSpPr>
        <p:spPr>
          <a:xfrm>
            <a:off x="15363426" y="3975514"/>
            <a:ext cx="762002" cy="703899"/>
          </a:xfrm>
          <a:custGeom>
            <a:avLst/>
            <a:gdLst/>
            <a:ahLst/>
            <a:cxnLst/>
            <a:rect l="l" t="t" r="r" b="b"/>
            <a:pathLst>
              <a:path w="762002" h="703899">
                <a:moveTo>
                  <a:pt x="0" y="0"/>
                </a:moveTo>
                <a:lnTo>
                  <a:pt x="762002" y="0"/>
                </a:lnTo>
                <a:lnTo>
                  <a:pt x="762002" y="703899"/>
                </a:lnTo>
                <a:lnTo>
                  <a:pt x="0" y="703899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73" name="TextBox 73"/>
          <p:cNvSpPr txBox="1"/>
          <p:nvPr/>
        </p:nvSpPr>
        <p:spPr>
          <a:xfrm>
            <a:off x="5282198" y="1016554"/>
            <a:ext cx="7723604" cy="721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1" spc="134">
                <a:solidFill>
                  <a:srgbClr val="000000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SYSTEM FLOW</a:t>
            </a:r>
            <a:endParaRPr lang="en-US" sz="4200" b="1" spc="134">
              <a:solidFill>
                <a:srgbClr val="000000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74" name="TextBox 74"/>
          <p:cNvSpPr txBox="1"/>
          <p:nvPr/>
        </p:nvSpPr>
        <p:spPr>
          <a:xfrm>
            <a:off x="1267140" y="5423960"/>
            <a:ext cx="2237269" cy="441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10"/>
              </a:lnSpc>
            </a:pPr>
            <a:r>
              <a:rPr lang="en-US" sz="2700">
                <a:solidFill>
                  <a:srgbClr val="000000">
                    <a:alpha val="80000"/>
                  </a:srgbClr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User</a:t>
            </a:r>
            <a:endParaRPr lang="en-US" sz="2700">
              <a:solidFill>
                <a:srgbClr val="000000">
                  <a:alpha val="80000"/>
                </a:srgbClr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75" name="TextBox 75"/>
          <p:cNvSpPr txBox="1"/>
          <p:nvPr/>
        </p:nvSpPr>
        <p:spPr>
          <a:xfrm>
            <a:off x="3934224" y="5423960"/>
            <a:ext cx="2237269" cy="441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10"/>
              </a:lnSpc>
            </a:pPr>
            <a:r>
              <a:rPr lang="en-US" sz="2700">
                <a:solidFill>
                  <a:srgbClr val="000000">
                    <a:alpha val="80000"/>
                  </a:srgbClr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TspSolver.java</a:t>
            </a:r>
            <a:endParaRPr lang="en-US" sz="2700">
              <a:solidFill>
                <a:srgbClr val="000000">
                  <a:alpha val="80000"/>
                </a:srgbClr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76" name="TextBox 76"/>
          <p:cNvSpPr txBox="1"/>
          <p:nvPr/>
        </p:nvSpPr>
        <p:spPr>
          <a:xfrm>
            <a:off x="2582668" y="3524562"/>
            <a:ext cx="2237269" cy="441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10"/>
              </a:lnSpc>
            </a:pPr>
            <a:r>
              <a:rPr lang="en-US" sz="2700">
                <a:solidFill>
                  <a:srgbClr val="000000">
                    <a:alpha val="80000"/>
                  </a:srgbClr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Input</a:t>
            </a:r>
            <a:endParaRPr lang="en-US" sz="2700">
              <a:solidFill>
                <a:srgbClr val="000000">
                  <a:alpha val="80000"/>
                </a:srgbClr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77" name="TextBox 77"/>
          <p:cNvSpPr txBox="1"/>
          <p:nvPr/>
        </p:nvSpPr>
        <p:spPr>
          <a:xfrm>
            <a:off x="6603322" y="5423960"/>
            <a:ext cx="2237269" cy="441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10"/>
              </a:lnSpc>
            </a:pPr>
            <a:r>
              <a:rPr lang="en-US" sz="2700">
                <a:solidFill>
                  <a:srgbClr val="000000">
                    <a:alpha val="80000"/>
                  </a:srgbClr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Input text</a:t>
            </a:r>
            <a:endParaRPr lang="en-US" sz="2700">
              <a:solidFill>
                <a:srgbClr val="000000">
                  <a:alpha val="80000"/>
                </a:srgbClr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78" name="TextBox 78"/>
          <p:cNvSpPr txBox="1"/>
          <p:nvPr/>
        </p:nvSpPr>
        <p:spPr>
          <a:xfrm>
            <a:off x="5226918" y="3581530"/>
            <a:ext cx="2237269" cy="441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10"/>
              </a:lnSpc>
            </a:pPr>
            <a:r>
              <a:rPr lang="en-US" sz="2700">
                <a:solidFill>
                  <a:srgbClr val="000000">
                    <a:alpha val="80000"/>
                  </a:srgbClr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Write</a:t>
            </a:r>
            <a:endParaRPr lang="en-US" sz="2700">
              <a:solidFill>
                <a:srgbClr val="000000">
                  <a:alpha val="80000"/>
                </a:srgbClr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79" name="TextBox 79"/>
          <p:cNvSpPr txBox="1"/>
          <p:nvPr/>
        </p:nvSpPr>
        <p:spPr>
          <a:xfrm>
            <a:off x="12081409" y="5437930"/>
            <a:ext cx="2237269" cy="441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10"/>
              </a:lnSpc>
            </a:pPr>
            <a:r>
              <a:rPr lang="en-US" sz="2700">
                <a:solidFill>
                  <a:srgbClr val="000000">
                    <a:alpha val="80000"/>
                  </a:srgbClr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CSV file</a:t>
            </a:r>
            <a:endParaRPr lang="en-US" sz="2700">
              <a:solidFill>
                <a:srgbClr val="000000">
                  <a:alpha val="80000"/>
                </a:srgbClr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80" name="TextBox 80"/>
          <p:cNvSpPr txBox="1"/>
          <p:nvPr/>
        </p:nvSpPr>
        <p:spPr>
          <a:xfrm>
            <a:off x="7915995" y="3598731"/>
            <a:ext cx="2237269" cy="441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10"/>
              </a:lnSpc>
            </a:pPr>
            <a:r>
              <a:rPr lang="en-US" sz="2700">
                <a:solidFill>
                  <a:srgbClr val="000000">
                    <a:alpha val="80000"/>
                  </a:srgbClr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Pass</a:t>
            </a:r>
            <a:endParaRPr lang="en-US" sz="2700">
              <a:solidFill>
                <a:srgbClr val="000000">
                  <a:alpha val="80000"/>
                </a:srgbClr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81" name="TextBox 81"/>
          <p:cNvSpPr txBox="1"/>
          <p:nvPr/>
        </p:nvSpPr>
        <p:spPr>
          <a:xfrm>
            <a:off x="9599809" y="5576360"/>
            <a:ext cx="2237269" cy="880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10"/>
              </a:lnSpc>
            </a:pPr>
            <a:r>
              <a:rPr lang="en-US" sz="2700">
                <a:solidFill>
                  <a:srgbClr val="000000">
                    <a:alpha val="80000"/>
                  </a:srgbClr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Main.c</a:t>
            </a:r>
            <a:endParaRPr lang="en-US" sz="2700">
              <a:solidFill>
                <a:srgbClr val="000000">
                  <a:alpha val="80000"/>
                </a:srgbClr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algn="ctr">
              <a:lnSpc>
                <a:spcPts val="3510"/>
              </a:lnSpc>
            </a:pPr>
            <a:r>
              <a:rPr lang="en-US" sz="2700">
                <a:solidFill>
                  <a:srgbClr val="000000">
                    <a:alpha val="80000"/>
                  </a:srgbClr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and backend</a:t>
            </a:r>
            <a:endParaRPr lang="en-US" sz="2700">
              <a:solidFill>
                <a:srgbClr val="000000">
                  <a:alpha val="80000"/>
                </a:srgbClr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82" name="TextBox 82"/>
          <p:cNvSpPr txBox="1"/>
          <p:nvPr/>
        </p:nvSpPr>
        <p:spPr>
          <a:xfrm>
            <a:off x="10530945" y="3524562"/>
            <a:ext cx="2237269" cy="441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10"/>
              </a:lnSpc>
            </a:pPr>
            <a:r>
              <a:rPr lang="en-US" sz="2700">
                <a:solidFill>
                  <a:srgbClr val="000000">
                    <a:alpha val="80000"/>
                  </a:srgbClr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Pass</a:t>
            </a:r>
            <a:endParaRPr lang="en-US" sz="2700">
              <a:solidFill>
                <a:srgbClr val="000000">
                  <a:alpha val="80000"/>
                </a:srgbClr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83" name="TextBox 83"/>
          <p:cNvSpPr txBox="1"/>
          <p:nvPr/>
        </p:nvSpPr>
        <p:spPr>
          <a:xfrm>
            <a:off x="14785606" y="5423960"/>
            <a:ext cx="2237269" cy="1756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10"/>
              </a:lnSpc>
            </a:pPr>
            <a:r>
              <a:rPr lang="en-US" sz="2700">
                <a:solidFill>
                  <a:srgbClr val="000000">
                    <a:alpha val="80000"/>
                  </a:srgbClr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TspSolver.java</a:t>
            </a:r>
            <a:endParaRPr lang="en-US" sz="2700">
              <a:solidFill>
                <a:srgbClr val="000000">
                  <a:alpha val="80000"/>
                </a:srgbClr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algn="ctr">
              <a:lnSpc>
                <a:spcPts val="3510"/>
              </a:lnSpc>
            </a:pPr>
            <a:r>
              <a:rPr lang="en-US" sz="2700">
                <a:solidFill>
                  <a:srgbClr val="000000">
                    <a:alpha val="80000"/>
                  </a:srgbClr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and display the visualisation</a:t>
            </a:r>
            <a:endParaRPr lang="en-US" sz="2700">
              <a:solidFill>
                <a:srgbClr val="000000">
                  <a:alpha val="80000"/>
                </a:srgbClr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40433" y="2202597"/>
            <a:ext cx="16018867" cy="7737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187450" lvl="1" indent="-593725" algn="l">
              <a:lnSpc>
                <a:spcPts val="7700"/>
              </a:lnSpc>
              <a:buFont typeface="Arial" panose="020B0604020202020204"/>
              <a:buChar char="•"/>
            </a:pPr>
            <a:r>
              <a:rPr lang="en-US" sz="5500">
                <a:solidFill>
                  <a:srgbClr val="171C24"/>
                </a:solidFill>
                <a:latin typeface="TT Hoves" panose="02000003020000060003"/>
                <a:ea typeface="TT Hoves" panose="02000003020000060003"/>
                <a:cs typeface="TT Hoves" panose="02000003020000060003"/>
                <a:sym typeface="TT Hoves" panose="02000003020000060003"/>
              </a:rPr>
              <a:t>Status: Upcoming (Phase 2).</a:t>
            </a:r>
            <a:endParaRPr lang="en-US" sz="5500">
              <a:solidFill>
                <a:srgbClr val="171C24"/>
              </a:solidFill>
              <a:latin typeface="TT Hoves" panose="02000003020000060003"/>
              <a:ea typeface="TT Hoves" panose="02000003020000060003"/>
              <a:cs typeface="TT Hoves" panose="02000003020000060003"/>
              <a:sym typeface="TT Hoves" panose="02000003020000060003"/>
            </a:endParaRPr>
          </a:p>
          <a:p>
            <a:pPr marL="1187450" lvl="1" indent="-593725" algn="l">
              <a:lnSpc>
                <a:spcPts val="7700"/>
              </a:lnSpc>
              <a:buFont typeface="Arial" panose="020B0604020202020204"/>
              <a:buChar char="•"/>
            </a:pPr>
            <a:r>
              <a:rPr lang="en-US" sz="5500">
                <a:solidFill>
                  <a:srgbClr val="171C24"/>
                </a:solidFill>
                <a:latin typeface="TT Hoves" panose="02000003020000060003"/>
                <a:ea typeface="TT Hoves" panose="02000003020000060003"/>
                <a:cs typeface="TT Hoves" panose="02000003020000060003"/>
                <a:sym typeface="TT Hoves" panose="02000003020000060003"/>
              </a:rPr>
              <a:t>Problem: 0/1 Knapsack.</a:t>
            </a:r>
            <a:endParaRPr lang="en-US" sz="5500">
              <a:solidFill>
                <a:srgbClr val="171C24"/>
              </a:solidFill>
              <a:latin typeface="TT Hoves" panose="02000003020000060003"/>
              <a:ea typeface="TT Hoves" panose="02000003020000060003"/>
              <a:cs typeface="TT Hoves" panose="02000003020000060003"/>
              <a:sym typeface="TT Hoves" panose="02000003020000060003"/>
            </a:endParaRPr>
          </a:p>
          <a:p>
            <a:pPr marL="1187450" lvl="1" indent="-593725" algn="l">
              <a:lnSpc>
                <a:spcPts val="7700"/>
              </a:lnSpc>
              <a:buFont typeface="Arial" panose="020B0604020202020204"/>
              <a:buChar char="•"/>
            </a:pPr>
            <a:r>
              <a:rPr lang="en-US" sz="5500">
                <a:solidFill>
                  <a:srgbClr val="171C24"/>
                </a:solidFill>
                <a:latin typeface="TT Hoves" panose="02000003020000060003"/>
                <a:ea typeface="TT Hoves" panose="02000003020000060003"/>
                <a:cs typeface="TT Hoves" panose="02000003020000060003"/>
                <a:sym typeface="TT Hoves" panose="02000003020000060003"/>
              </a:rPr>
              <a:t>Goal: Select items to maximize profit without breaking the bag.</a:t>
            </a:r>
            <a:endParaRPr lang="en-US" sz="5500">
              <a:solidFill>
                <a:srgbClr val="171C24"/>
              </a:solidFill>
              <a:latin typeface="TT Hoves" panose="02000003020000060003"/>
              <a:ea typeface="TT Hoves" panose="02000003020000060003"/>
              <a:cs typeface="TT Hoves" panose="02000003020000060003"/>
              <a:sym typeface="TT Hoves" panose="02000003020000060003"/>
            </a:endParaRPr>
          </a:p>
          <a:p>
            <a:pPr marL="1187450" lvl="1" indent="-593725" algn="l">
              <a:lnSpc>
                <a:spcPts val="7700"/>
              </a:lnSpc>
              <a:buFont typeface="Arial" panose="020B0604020202020204"/>
              <a:buChar char="•"/>
            </a:pPr>
            <a:r>
              <a:rPr lang="en-US" sz="5500">
                <a:solidFill>
                  <a:srgbClr val="171C24"/>
                </a:solidFill>
                <a:latin typeface="TT Hoves" panose="02000003020000060003"/>
                <a:ea typeface="TT Hoves" panose="02000003020000060003"/>
                <a:cs typeface="TT Hoves" panose="02000003020000060003"/>
                <a:sym typeface="TT Hoves" panose="02000003020000060003"/>
              </a:rPr>
              <a:t>Plan: Implement using Branch &amp; Bound and Dynamic</a:t>
            </a:r>
            <a:r>
              <a:rPr lang="en-US" sz="5500">
                <a:solidFill>
                  <a:srgbClr val="171C24"/>
                </a:solidFill>
                <a:latin typeface="TT Hoves" panose="02000003020000060003"/>
                <a:ea typeface="TT Hoves" panose="02000003020000060003"/>
                <a:cs typeface="TT Hoves" panose="02000003020000060003"/>
                <a:sym typeface="TT Hoves" panose="02000003020000060003"/>
              </a:rPr>
              <a:t> Programming (DP) in the same C backend.</a:t>
            </a:r>
            <a:endParaRPr lang="en-US" sz="5500">
              <a:solidFill>
                <a:srgbClr val="171C24"/>
              </a:solidFill>
              <a:latin typeface="TT Hoves" panose="02000003020000060003"/>
              <a:ea typeface="TT Hoves" panose="02000003020000060003"/>
              <a:cs typeface="TT Hoves" panose="02000003020000060003"/>
              <a:sym typeface="TT Hoves" panose="02000003020000060003"/>
            </a:endParaRPr>
          </a:p>
          <a:p>
            <a:pPr algn="l">
              <a:lnSpc>
                <a:spcPts val="7700"/>
              </a:lnSpc>
            </a:pPr>
          </a:p>
        </p:txBody>
      </p:sp>
      <p:sp>
        <p:nvSpPr>
          <p:cNvPr id="3" name="TextBox 3"/>
          <p:cNvSpPr txBox="1"/>
          <p:nvPr/>
        </p:nvSpPr>
        <p:spPr>
          <a:xfrm>
            <a:off x="-434667" y="314327"/>
            <a:ext cx="19157333" cy="1285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00"/>
              </a:lnSpc>
              <a:spcBef>
                <a:spcPct val="0"/>
              </a:spcBef>
            </a:pPr>
            <a:r>
              <a:rPr lang="en-US" sz="7500" b="1">
                <a:solidFill>
                  <a:srgbClr val="171C24"/>
                </a:solidFill>
                <a:latin typeface="TT Hoves Bold" panose="02000003020000060003"/>
                <a:ea typeface="TT Hoves Bold" panose="02000003020000060003"/>
                <a:cs typeface="TT Hoves Bold" panose="02000003020000060003"/>
                <a:sym typeface="TT Hoves Bold" panose="02000003020000060003"/>
              </a:rPr>
              <a:t>Future Work</a:t>
            </a:r>
            <a:r>
              <a:rPr lang="en-US" sz="7500" b="1">
                <a:solidFill>
                  <a:srgbClr val="171C24"/>
                </a:solidFill>
                <a:latin typeface="TT Hoves Bold" panose="02000003020000060003"/>
                <a:ea typeface="TT Hoves Bold" panose="02000003020000060003"/>
                <a:cs typeface="TT Hoves Bold" panose="02000003020000060003"/>
                <a:sym typeface="TT Hoves Bold" panose="02000003020000060003"/>
              </a:rPr>
              <a:t> (The Knapsack Problem)</a:t>
            </a:r>
            <a:endParaRPr lang="en-US" sz="7500" b="1">
              <a:solidFill>
                <a:srgbClr val="171C24"/>
              </a:solidFill>
              <a:latin typeface="TT Hoves Bold" panose="02000003020000060003"/>
              <a:ea typeface="TT Hoves Bold" panose="02000003020000060003"/>
              <a:cs typeface="TT Hoves Bold" panose="02000003020000060003"/>
              <a:sym typeface="TT Hoves Bold" panose="02000003020000060003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40433" y="2202597"/>
            <a:ext cx="16018867" cy="579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5500">
                <a:solidFill>
                  <a:srgbClr val="171C24"/>
                </a:solidFill>
                <a:latin typeface="TT Hoves" panose="02000003020000060003"/>
                <a:ea typeface="TT Hoves" panose="02000003020000060003"/>
                <a:cs typeface="TT Hoves" panose="02000003020000060003"/>
                <a:sym typeface="TT Hoves" panose="02000003020000060003"/>
              </a:rPr>
              <a:t>Summary:</a:t>
            </a:r>
            <a:endParaRPr lang="en-US" sz="5500">
              <a:solidFill>
                <a:srgbClr val="171C24"/>
              </a:solidFill>
              <a:latin typeface="TT Hoves" panose="02000003020000060003"/>
              <a:ea typeface="TT Hoves" panose="02000003020000060003"/>
              <a:cs typeface="TT Hoves" panose="02000003020000060003"/>
              <a:sym typeface="TT Hoves" panose="02000003020000060003"/>
            </a:endParaRPr>
          </a:p>
          <a:p>
            <a:pPr marL="1187450" lvl="1" indent="-593725" algn="l">
              <a:lnSpc>
                <a:spcPts val="7700"/>
              </a:lnSpc>
              <a:buFont typeface="Arial" panose="020B0604020202020204"/>
              <a:buChar char="•"/>
            </a:pPr>
            <a:r>
              <a:rPr lang="en-US" sz="5500">
                <a:solidFill>
                  <a:srgbClr val="171C24"/>
                </a:solidFill>
                <a:latin typeface="TT Hoves" panose="02000003020000060003"/>
                <a:ea typeface="TT Hoves" panose="02000003020000060003"/>
                <a:cs typeface="TT Hoves" panose="02000003020000060003"/>
                <a:sym typeface="TT Hoves" panose="02000003020000060003"/>
              </a:rPr>
              <a:t>TS</a:t>
            </a:r>
            <a:r>
              <a:rPr lang="en-US" sz="5500">
                <a:solidFill>
                  <a:srgbClr val="171C24"/>
                </a:solidFill>
                <a:latin typeface="TT Hoves" panose="02000003020000060003"/>
                <a:ea typeface="TT Hoves" panose="02000003020000060003"/>
                <a:cs typeface="TT Hoves" panose="02000003020000060003"/>
                <a:sym typeface="TT Hoves" panose="02000003020000060003"/>
              </a:rPr>
              <a:t>P Solved successfully.</a:t>
            </a:r>
            <a:endParaRPr lang="en-US" sz="5500">
              <a:solidFill>
                <a:srgbClr val="171C24"/>
              </a:solidFill>
              <a:latin typeface="TT Hoves" panose="02000003020000060003"/>
              <a:ea typeface="TT Hoves" panose="02000003020000060003"/>
              <a:cs typeface="TT Hoves" panose="02000003020000060003"/>
              <a:sym typeface="TT Hoves" panose="02000003020000060003"/>
            </a:endParaRPr>
          </a:p>
          <a:p>
            <a:pPr marL="1187450" lvl="1" indent="-593725" algn="l">
              <a:lnSpc>
                <a:spcPts val="7700"/>
              </a:lnSpc>
              <a:buFont typeface="Arial" panose="020B0604020202020204"/>
              <a:buChar char="•"/>
            </a:pPr>
            <a:r>
              <a:rPr lang="en-US" sz="5500">
                <a:solidFill>
                  <a:srgbClr val="171C24"/>
                </a:solidFill>
                <a:latin typeface="TT Hoves" panose="02000003020000060003"/>
                <a:ea typeface="TT Hoves" panose="02000003020000060003"/>
                <a:cs typeface="TT Hoves" panose="02000003020000060003"/>
                <a:sym typeface="TT Hoves" panose="02000003020000060003"/>
              </a:rPr>
              <a:t>Comparison of Exact vs.</a:t>
            </a:r>
            <a:r>
              <a:rPr lang="en-US" sz="5500">
                <a:solidFill>
                  <a:srgbClr val="171C24"/>
                </a:solidFill>
                <a:latin typeface="TT Hoves" panose="02000003020000060003"/>
                <a:ea typeface="TT Hoves" panose="02000003020000060003"/>
                <a:cs typeface="TT Hoves" panose="02000003020000060003"/>
                <a:sym typeface="TT Hoves" panose="02000003020000060003"/>
              </a:rPr>
              <a:t> Heuristic done.</a:t>
            </a:r>
            <a:endParaRPr lang="en-US" sz="5500">
              <a:solidFill>
                <a:srgbClr val="171C24"/>
              </a:solidFill>
              <a:latin typeface="TT Hoves" panose="02000003020000060003"/>
              <a:ea typeface="TT Hoves" panose="02000003020000060003"/>
              <a:cs typeface="TT Hoves" panose="02000003020000060003"/>
              <a:sym typeface="TT Hoves" panose="02000003020000060003"/>
            </a:endParaRPr>
          </a:p>
          <a:p>
            <a:pPr marL="1187450" lvl="1" indent="-593725" algn="l">
              <a:lnSpc>
                <a:spcPts val="7700"/>
              </a:lnSpc>
              <a:buFont typeface="Arial" panose="020B0604020202020204"/>
              <a:buChar char="•"/>
            </a:pPr>
            <a:r>
              <a:rPr lang="en-US" sz="5500">
                <a:solidFill>
                  <a:srgbClr val="171C24"/>
                </a:solidFill>
                <a:latin typeface="TT Hoves" panose="02000003020000060003"/>
                <a:ea typeface="TT Hoves" panose="02000003020000060003"/>
                <a:cs typeface="TT Hoves" panose="02000003020000060003"/>
                <a:sym typeface="TT Hoves" panose="02000003020000060003"/>
              </a:rPr>
              <a:t>Ready</a:t>
            </a:r>
            <a:r>
              <a:rPr lang="en-US" sz="5500">
                <a:solidFill>
                  <a:srgbClr val="171C24"/>
                </a:solidFill>
                <a:latin typeface="TT Hoves" panose="02000003020000060003"/>
                <a:ea typeface="TT Hoves" panose="02000003020000060003"/>
                <a:cs typeface="TT Hoves" panose="02000003020000060003"/>
                <a:sym typeface="TT Hoves" panose="02000003020000060003"/>
              </a:rPr>
              <a:t> for Phase 2 (Knapsack).</a:t>
            </a:r>
            <a:endParaRPr lang="en-US" sz="5500">
              <a:solidFill>
                <a:srgbClr val="171C24"/>
              </a:solidFill>
              <a:latin typeface="TT Hoves" panose="02000003020000060003"/>
              <a:ea typeface="TT Hoves" panose="02000003020000060003"/>
              <a:cs typeface="TT Hoves" panose="02000003020000060003"/>
              <a:sym typeface="TT Hoves" panose="02000003020000060003"/>
            </a:endParaRPr>
          </a:p>
          <a:p>
            <a:pPr marL="1187450" lvl="1" indent="-593725" algn="l">
              <a:lnSpc>
                <a:spcPts val="7700"/>
              </a:lnSpc>
              <a:buFont typeface="Arial" panose="020B0604020202020204"/>
              <a:buChar char="•"/>
            </a:pPr>
            <a:r>
              <a:rPr lang="en-US" sz="5500">
                <a:solidFill>
                  <a:srgbClr val="171C24"/>
                </a:solidFill>
                <a:latin typeface="TT Hoves" panose="02000003020000060003"/>
                <a:ea typeface="TT Hoves" panose="02000003020000060003"/>
                <a:cs typeface="TT Hoves" panose="02000003020000060003"/>
                <a:sym typeface="TT Hoves" panose="02000003020000060003"/>
              </a:rPr>
              <a:t>Thank You!</a:t>
            </a:r>
            <a:endParaRPr lang="en-US" sz="5500">
              <a:solidFill>
                <a:srgbClr val="171C24"/>
              </a:solidFill>
              <a:latin typeface="TT Hoves" panose="02000003020000060003"/>
              <a:ea typeface="TT Hoves" panose="02000003020000060003"/>
              <a:cs typeface="TT Hoves" panose="02000003020000060003"/>
              <a:sym typeface="TT Hoves" panose="02000003020000060003"/>
            </a:endParaRPr>
          </a:p>
          <a:p>
            <a:pPr algn="l">
              <a:lnSpc>
                <a:spcPts val="7700"/>
              </a:lnSpc>
            </a:pPr>
          </a:p>
        </p:txBody>
      </p:sp>
      <p:sp>
        <p:nvSpPr>
          <p:cNvPr id="3" name="TextBox 3"/>
          <p:cNvSpPr txBox="1"/>
          <p:nvPr/>
        </p:nvSpPr>
        <p:spPr>
          <a:xfrm>
            <a:off x="-434667" y="314327"/>
            <a:ext cx="19157333" cy="1285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00"/>
              </a:lnSpc>
              <a:spcBef>
                <a:spcPct val="0"/>
              </a:spcBef>
            </a:pPr>
            <a:r>
              <a:rPr lang="en-US" sz="7500" b="1">
                <a:solidFill>
                  <a:srgbClr val="171C24"/>
                </a:solidFill>
                <a:latin typeface="TT Hoves Bold" panose="02000003020000060003"/>
                <a:ea typeface="TT Hoves Bold" panose="02000003020000060003"/>
                <a:cs typeface="TT Hoves Bold" panose="02000003020000060003"/>
                <a:sym typeface="TT Hoves Bold" panose="02000003020000060003"/>
              </a:rPr>
              <a:t>Conclusion</a:t>
            </a:r>
            <a:endParaRPr lang="en-US" sz="7500" b="1">
              <a:solidFill>
                <a:srgbClr val="171C24"/>
              </a:solidFill>
              <a:latin typeface="TT Hoves Bold" panose="02000003020000060003"/>
              <a:ea typeface="TT Hoves Bold" panose="02000003020000060003"/>
              <a:cs typeface="TT Hoves Bold" panose="02000003020000060003"/>
              <a:sym typeface="TT Hoves Bold" panose="02000003020000060003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2843</Words>
  <Application>WPS Presentation</Application>
  <PresentationFormat>On-screen Show (4:3)</PresentationFormat>
  <Paragraphs>131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4" baseType="lpstr">
      <vt:lpstr>Arial</vt:lpstr>
      <vt:lpstr>SimSun</vt:lpstr>
      <vt:lpstr>Wingdings</vt:lpstr>
      <vt:lpstr>Oswald</vt:lpstr>
      <vt:lpstr>TT Hoves</vt:lpstr>
      <vt:lpstr>Arial</vt:lpstr>
      <vt:lpstr>TT Hoves Bold</vt:lpstr>
      <vt:lpstr>Roboto Bold</vt:lpstr>
      <vt:lpstr>Roboto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Title: Combinatorial Optimization Solver Subtitle: Part 1: Traveling Salesperson Problem (TSP) Name: [Your Name] ID/Course: [Your Details]</dc:title>
  <dc:creator/>
  <cp:lastModifiedBy>Prottoy Paul</cp:lastModifiedBy>
  <cp:revision>2</cp:revision>
  <dcterms:created xsi:type="dcterms:W3CDTF">2006-08-16T00:00:00Z</dcterms:created>
  <dcterms:modified xsi:type="dcterms:W3CDTF">2026-01-15T15:25:30Z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96B2E0AA60444D90BCA9C6E6224668EA_12</vt:lpwstr>
  </property>
  <property fmtid="{D5CDD505-2E9C-101B-9397-08002B2CF9AE}" pid="3" name="KSOProductBuildVer">
    <vt:lpwstr>2057-12.2.0.23196</vt:lpwstr>
  </property>
</Properties>
</file>