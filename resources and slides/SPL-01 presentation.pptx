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7" r:id="rId8"/>
    <p:sldId id="268" r:id="rId9"/>
    <p:sldId id="269" r:id="rId10"/>
    <p:sldId id="270" r:id="rId11"/>
    <p:sldId id="261" r:id="rId12"/>
    <p:sldId id="271" r:id="rId13"/>
    <p:sldId id="272" r:id="rId14"/>
    <p:sldId id="273" r:id="rId15"/>
  </p:sldIdLst>
  <p:sldSz cx="18288000" cy="10287000"/>
  <p:notesSz cx="6858000" cy="9144000"/>
  <p:embeddedFontLst>
    <p:embeddedFont>
      <p:font typeface="Impact" panose="020B0806030902050204" charset="0"/>
      <p:regular r:id="rId19"/>
    </p:embeddedFont>
    <p:embeddedFont>
      <p:font typeface="Oswald" panose="00000500000000000000"/>
      <p:regular r:id="rId20"/>
    </p:embeddedFont>
    <p:embeddedFont>
      <p:font typeface="TT Hoves Bold" panose="02000003020000060003"/>
      <p:bold r:id="rId21"/>
    </p:embeddedFont>
    <p:embeddedFont>
      <p:font typeface="Calibri" panose="020F0502020204030204" charset="0"/>
      <p:regular r:id="rId22"/>
      <p:bold r:id="rId23"/>
      <p:italic r:id="rId24"/>
      <p:boldItalic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font" Target="fonts/font7.fntdata"/><Relationship Id="rId24" Type="http://schemas.openxmlformats.org/officeDocument/2006/relationships/font" Target="fonts/font6.fntdata"/><Relationship Id="rId23" Type="http://schemas.openxmlformats.org/officeDocument/2006/relationships/font" Target="fonts/font5.fntdata"/><Relationship Id="rId22" Type="http://schemas.openxmlformats.org/officeDocument/2006/relationships/font" Target="fonts/font4.fntdata"/><Relationship Id="rId21" Type="http://schemas.openxmlformats.org/officeDocument/2006/relationships/font" Target="fonts/font3.fntdata"/><Relationship Id="rId20" Type="http://schemas.openxmlformats.org/officeDocument/2006/relationships/font" Target="fonts/font2.fntdata"/><Relationship Id="rId2" Type="http://schemas.openxmlformats.org/officeDocument/2006/relationships/theme" Target="theme/theme1.xml"/><Relationship Id="rId19" Type="http://schemas.openxmlformats.org/officeDocument/2006/relationships/font" Target="fonts/font1.fntdata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E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/>
          <p:cNvSpPr txBox="1"/>
          <p:nvPr/>
        </p:nvSpPr>
        <p:spPr>
          <a:xfrm>
            <a:off x="437515" y="1141730"/>
            <a:ext cx="17711420" cy="701167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l">
              <a:lnSpc>
                <a:spcPts val="7570"/>
              </a:lnSpc>
            </a:pPr>
            <a:r>
              <a:rPr lang="en-US" sz="5000">
                <a:solidFill>
                  <a:srgbClr val="000000"/>
                </a:solidFill>
                <a:latin typeface="Impact" panose="020B0806030902050204" charset="0"/>
                <a:ea typeface="Oswald" panose="00000500000000000000"/>
                <a:cs typeface="Impact" panose="020B0806030902050204" charset="0"/>
                <a:sym typeface="Oswald" panose="00000500000000000000"/>
              </a:rPr>
              <a:t>Project : </a:t>
            </a:r>
            <a:r>
              <a:rPr lang="en-US" altLang="en-US" sz="5000">
                <a:solidFill>
                  <a:srgbClr val="000000"/>
                </a:solidFill>
                <a:latin typeface="Impact" panose="020B0806030902050204" charset="0"/>
                <a:ea typeface="Oswald" panose="00000500000000000000"/>
                <a:cs typeface="Impact" panose="020B0806030902050204" charset="0"/>
                <a:sym typeface="Oswald" panose="00000500000000000000"/>
              </a:rPr>
              <a:t>Modern Approaches to the Knapsack and TSP Bottlenecks</a:t>
            </a:r>
            <a:endParaRPr lang="en-US" altLang="en-US" sz="5000">
              <a:solidFill>
                <a:srgbClr val="000000"/>
              </a:solidFill>
              <a:latin typeface="Impact" panose="020B0806030902050204" charset="0"/>
              <a:ea typeface="Oswald" panose="00000500000000000000"/>
              <a:cs typeface="Impact" panose="020B0806030902050204" charset="0"/>
              <a:sym typeface="Oswald" panose="00000500000000000000"/>
            </a:endParaRPr>
          </a:p>
          <a:p>
            <a:pPr algn="l">
              <a:lnSpc>
                <a:spcPts val="6590"/>
              </a:lnSpc>
            </a:pPr>
            <a:r>
              <a:rPr lang="en-US" altLang="en-US" sz="3600">
                <a:solidFill>
                  <a:srgbClr val="000000"/>
                </a:solidFill>
                <a:latin typeface="Times New Roman" panose="02020603050405020304" charset="0"/>
                <a:ea typeface="Oswald" panose="00000500000000000000"/>
                <a:cs typeface="Times New Roman" panose="02020603050405020304" charset="0"/>
                <a:sym typeface="Oswald" panose="00000500000000000000"/>
              </a:rPr>
              <a:t>                  (Evaluating Performance Trade-offs in Branch &amp; Bound for TSP and 0/1 Knapsack)</a:t>
            </a:r>
            <a:endParaRPr lang="en-US" altLang="en-US" sz="3600">
              <a:solidFill>
                <a:srgbClr val="000000"/>
              </a:solidFill>
              <a:latin typeface="Times New Roman" panose="02020603050405020304" charset="0"/>
              <a:ea typeface="Oswald" panose="00000500000000000000"/>
              <a:cs typeface="Times New Roman" panose="02020603050405020304" charset="0"/>
              <a:sym typeface="Oswald" panose="00000500000000000000"/>
            </a:endParaRPr>
          </a:p>
          <a:p>
            <a:pPr algn="l">
              <a:lnSpc>
                <a:spcPts val="6590"/>
              </a:lnSpc>
            </a:pPr>
            <a:endParaRPr lang="en-US" sz="4705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  <a:p>
            <a:pPr algn="l">
              <a:lnSpc>
                <a:spcPts val="6590"/>
              </a:lnSpc>
            </a:pPr>
            <a:r>
              <a:rPr lang="en-US" sz="4705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Name:  Prottoy Paul</a:t>
            </a:r>
            <a:endParaRPr lang="en-US" sz="4705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  <a:p>
            <a:pPr algn="l">
              <a:lnSpc>
                <a:spcPts val="6590"/>
              </a:lnSpc>
            </a:pPr>
            <a:r>
              <a:rPr lang="en-US" sz="4705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Roll: 1613</a:t>
            </a:r>
            <a:endParaRPr lang="en-US" sz="4705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  <a:p>
            <a:pPr algn="l">
              <a:lnSpc>
                <a:spcPts val="6590"/>
              </a:lnSpc>
            </a:pPr>
            <a:r>
              <a:rPr lang="en-US" sz="4705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Course: SE 2105</a:t>
            </a:r>
            <a:endParaRPr lang="en-US" sz="4705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  <a:p>
            <a:pPr algn="l">
              <a:lnSpc>
                <a:spcPts val="4550"/>
              </a:lnSpc>
            </a:pPr>
          </a:p>
        </p:txBody>
      </p:sp>
      <p:sp>
        <p:nvSpPr>
          <p:cNvPr id="11" name="TextBox 11"/>
          <p:cNvSpPr txBox="1"/>
          <p:nvPr/>
        </p:nvSpPr>
        <p:spPr>
          <a:xfrm>
            <a:off x="456941" y="6210300"/>
            <a:ext cx="12021444" cy="8208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730"/>
              </a:lnSpc>
            </a:pPr>
            <a:r>
              <a:rPr lang="en-US" sz="4805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Supervisor: Shah Mostafa Khaled , PhD</a:t>
            </a:r>
            <a:endParaRPr lang="en-US" sz="4805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3962528" y="8953500"/>
            <a:ext cx="12021444" cy="9199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5405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Institute of Information Technology,DU</a:t>
            </a:r>
            <a:endParaRPr lang="en-US" sz="5405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3"/>
              <p:cNvSpPr txBox="1"/>
              <p:nvPr/>
            </p:nvSpPr>
            <p:spPr>
              <a:xfrm>
                <a:off x="1240433" y="2031692"/>
                <a:ext cx="16018867" cy="5224145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1187450" lvl="1" indent="-593725" algn="l">
                  <a:lnSpc>
                    <a:spcPct val="100000"/>
                  </a:lnSpc>
                  <a:buFont typeface="Arial" panose="020B0604020202020204"/>
                  <a:buChar char="•"/>
                </a:pPr>
                <a:r>
                  <a:rPr lang="en-US" altLang="en-US" sz="4800"/>
                  <a:t>The Mathematical Baseline: Branch &amp; Bound guarantees the absolute optimal solution.</a:t>
                </a:r>
                <a:endParaRPr lang="en-US" altLang="en-US" sz="4800"/>
              </a:p>
              <a:p>
                <a:pPr marL="1187450" lvl="1" indent="-593725" algn="l">
                  <a:lnSpc>
                    <a:spcPct val="100000"/>
                  </a:lnSpc>
                  <a:buFont typeface="Arial" panose="020B0604020202020204"/>
                  <a:buChar char="•"/>
                </a:pPr>
                <a:r>
                  <a:rPr lang="en-US" altLang="en-US" sz="4800"/>
                  <a:t>The Complexity Wall: TSP scales at </a:t>
                </a:r>
                <a:r>
                  <a:rPr lang="en-US" altLang="en-US" sz="4800" b="1"/>
                  <a:t>O(N!)</a:t>
                </a:r>
                <a:endParaRPr lang="en-US" altLang="en-US" sz="4800"/>
              </a:p>
              <a:p>
                <a:pPr marL="1187450" lvl="1" indent="-593725" algn="l">
                  <a:lnSpc>
                    <a:spcPct val="100000"/>
                  </a:lnSpc>
                  <a:buFont typeface="Arial" panose="020B0604020202020204"/>
                  <a:buChar char="•"/>
                </a:pPr>
                <a:r>
                  <a:rPr lang="en-US" altLang="en-US" sz="4800"/>
                  <a:t>Knapsack scales at </a:t>
                </a:r>
                <a:r>
                  <a:rPr lang="en-US" altLang="en-US" sz="4800" b="1"/>
                  <a:t>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sz="48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altLang="en-US" sz="48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e>
                      <m:sup>
                        <m:r>
                          <a:rPr lang="en-US" altLang="en-US" sz="48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𝑵</m:t>
                        </m:r>
                      </m:sup>
                    </m:sSup>
                  </m:oMath>
                </a14:m>
                <a:r>
                  <a:rPr lang="en-US" altLang="en-US" sz="4800" b="1"/>
                  <a:t>)</a:t>
                </a:r>
                <a:r>
                  <a:rPr lang="en-US" altLang="en-US" sz="4800"/>
                  <a:t>.</a:t>
                </a:r>
                <a:endParaRPr lang="en-US" altLang="en-US" sz="4800"/>
              </a:p>
              <a:p>
                <a:pPr marL="1187450" lvl="1" indent="-593725" algn="l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en-US" altLang="en-US" sz="4800">
                    <a:solidFill>
                      <a:schemeClr val="tx1"/>
                    </a:solidFill>
                  </a:rPr>
                  <a:t>The Trade-off: How do we maintain the exact precision of Branch &amp; Bound on datasets where brute-force execution would melt the CPU?</a:t>
                </a:r>
                <a:endParaRPr lang="en-US" altLang="en-US" sz="480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33" y="2031692"/>
                <a:ext cx="16018867" cy="5224145"/>
              </a:xfrm>
              <a:prstGeom prst="rect">
                <a:avLst/>
              </a:prstGeom>
              <a:blipFill rotWithShape="1">
                <a:blip r:embed="rId1"/>
                <a:stretch>
                  <a:fillRect l="-2" t="-128" b="6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4"/>
          <p:cNvSpPr txBox="1"/>
          <p:nvPr/>
        </p:nvSpPr>
        <p:spPr>
          <a:xfrm>
            <a:off x="478155" y="87630"/>
            <a:ext cx="17635220" cy="14357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altLang="en-US" sz="6600" b="1">
                <a:solidFill>
                  <a:srgbClr val="171C24"/>
                </a:solidFill>
                <a:latin typeface="TT Hoves Bold" panose="02000003020000060003"/>
                <a:ea typeface="TT Hoves Bold" panose="02000003020000060003"/>
                <a:cs typeface="TT Hoves Bold" panose="02000003020000060003"/>
                <a:sym typeface="TT Hoves Bold" panose="02000003020000060003"/>
              </a:rPr>
              <a:t>The Dual Mandate (Accuracy vs. Speed)</a:t>
            </a:r>
            <a:endParaRPr lang="en-US" altLang="en-US" sz="6600" b="1">
              <a:solidFill>
                <a:srgbClr val="171C24"/>
              </a:solidFill>
              <a:latin typeface="TT Hoves Bold" panose="02000003020000060003"/>
              <a:ea typeface="TT Hoves Bold" panose="02000003020000060003"/>
              <a:cs typeface="TT Hoves Bold" panose="02000003020000060003"/>
              <a:sym typeface="TT Hoves Bold" panose="02000003020000060003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66800" y="2400300"/>
            <a:ext cx="15313660" cy="795845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marL="1279525" lvl="1" indent="-6858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US" sz="4800"/>
              <a:t>TSP B&amp;B : Uses Matrix Reduction (subtracting row/column minimums) to calculate a strict Lower Bound for route pruning.</a:t>
            </a:r>
            <a:endParaRPr lang="en-US" altLang="en-US" sz="4800"/>
          </a:p>
          <a:p>
            <a:pPr marL="1187450" lvl="1" indent="-593725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altLang="en-US" sz="4800"/>
              <a:t>Knapsack B&amp;B (knapsack.c): Uses value/weight ratios to calculate maximum potential profit bounds for capacity pruning.</a:t>
            </a:r>
            <a:endParaRPr lang="en-US" altLang="en-US" sz="4800"/>
          </a:p>
          <a:p>
            <a:pPr marL="1187450" lvl="1" indent="-593725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altLang="en-US" sz="4800"/>
              <a:t>Memory Management: Both utilize custom state-space tracking (e.g., a 2,000,000 node Min-Heap for TSP) to prioritize the most promising paths.</a:t>
            </a:r>
            <a:endParaRPr lang="en-US" altLang="en-US" sz="4800"/>
          </a:p>
        </p:txBody>
      </p:sp>
      <p:sp>
        <p:nvSpPr>
          <p:cNvPr id="3" name="TextBox 3"/>
          <p:cNvSpPr txBox="1"/>
          <p:nvPr/>
        </p:nvSpPr>
        <p:spPr>
          <a:xfrm>
            <a:off x="478145" y="190220"/>
            <a:ext cx="16781155" cy="2031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spcBef>
                <a:spcPct val="0"/>
              </a:spcBef>
            </a:pPr>
            <a:r>
              <a:rPr lang="en-US" altLang="en-US" sz="6600" b="1">
                <a:solidFill>
                  <a:srgbClr val="171C24"/>
                </a:solidFill>
                <a:latin typeface="TT Hoves Bold" panose="02000003020000060003"/>
                <a:ea typeface="TT Hoves Bold" panose="02000003020000060003"/>
                <a:cs typeface="TT Hoves Bold" panose="02000003020000060003"/>
                <a:sym typeface="TT Hoves Bold" panose="02000003020000060003"/>
              </a:rPr>
              <a:t>The Exact Engine (Branch &amp; Bound Implementation)</a:t>
            </a:r>
            <a:endParaRPr lang="en-US" altLang="en-US" sz="6600" b="1">
              <a:solidFill>
                <a:srgbClr val="171C24"/>
              </a:solidFill>
              <a:latin typeface="TT Hoves Bold" panose="02000003020000060003"/>
              <a:ea typeface="TT Hoves Bold" panose="02000003020000060003"/>
              <a:cs typeface="TT Hoves Bold" panose="02000003020000060003"/>
              <a:sym typeface="TT Hoves Bold" panose="02000003020000060003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40155" y="2492375"/>
            <a:ext cx="16019145" cy="554291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marL="1187450" lvl="1" indent="-593725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altLang="en-US" sz="4800"/>
              <a:t>TSP Breaking Point: N = 22 Beyond 22 cities, the 2-million node Min-Heap overflows, crashing the system's RAM.</a:t>
            </a:r>
            <a:endParaRPr lang="en-US" altLang="en-US" sz="4800"/>
          </a:p>
          <a:p>
            <a:pPr marL="1187450" lvl="1" indent="-593725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altLang="en-US" sz="4800"/>
              <a:t>Knapsack Breaking Point: N = 28 Beyond 28 items, the deep recursive tracking triggers stack limitations and exponential time delays.</a:t>
            </a:r>
            <a:endParaRPr lang="en-US" altLang="en-US" sz="4800"/>
          </a:p>
          <a:p>
            <a:pPr marL="1187450" lvl="1" indent="-593725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altLang="en-US" sz="4800"/>
              <a:t>The Pivot: To satisfy performance metrics, the architecture must actively prevent users from triggering these crashes.</a:t>
            </a:r>
            <a:endParaRPr lang="en-US" altLang="en-US" sz="4800"/>
          </a:p>
        </p:txBody>
      </p:sp>
      <p:sp>
        <p:nvSpPr>
          <p:cNvPr id="3" name="TextBox 3"/>
          <p:cNvSpPr txBox="1"/>
          <p:nvPr/>
        </p:nvSpPr>
        <p:spPr>
          <a:xfrm>
            <a:off x="533390" y="190220"/>
            <a:ext cx="16781155" cy="143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altLang="en-US" sz="6600" b="1">
                <a:solidFill>
                  <a:srgbClr val="171C24"/>
                </a:solidFill>
                <a:latin typeface="TT Hoves Bold" panose="02000003020000060003"/>
                <a:ea typeface="TT Hoves Bold" panose="02000003020000060003"/>
                <a:cs typeface="TT Hoves Bold" panose="02000003020000060003"/>
                <a:sym typeface="TT Hoves Bold" panose="02000003020000060003"/>
              </a:rPr>
              <a:t>Identifying the Hardware Limits</a:t>
            </a:r>
            <a:endParaRPr lang="en-US" altLang="en-US" sz="6600" b="1">
              <a:solidFill>
                <a:srgbClr val="171C24"/>
              </a:solidFill>
              <a:latin typeface="TT Hoves Bold" panose="02000003020000060003"/>
              <a:ea typeface="TT Hoves Bold" panose="02000003020000060003"/>
              <a:cs typeface="TT Hoves Bold" panose="02000003020000060003"/>
              <a:sym typeface="TT Hoves Bold" panose="02000003020000060003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78145" y="163550"/>
            <a:ext cx="16781155" cy="2031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spcBef>
                <a:spcPct val="0"/>
              </a:spcBef>
            </a:pPr>
            <a:r>
              <a:rPr lang="en-US" altLang="en-US" sz="6600" b="1">
                <a:solidFill>
                  <a:srgbClr val="171C24"/>
                </a:solidFill>
                <a:latin typeface="TT Hoves Bold" panose="02000003020000060003"/>
                <a:ea typeface="TT Hoves Bold" panose="02000003020000060003"/>
                <a:cs typeface="TT Hoves Bold" panose="02000003020000060003"/>
                <a:sym typeface="TT Hoves Bold" panose="02000003020000060003"/>
              </a:rPr>
              <a:t>Scaling TSP </a:t>
            </a:r>
            <a:endParaRPr lang="en-US" altLang="en-US" sz="6600" b="1">
              <a:solidFill>
                <a:srgbClr val="171C24"/>
              </a:solidFill>
              <a:latin typeface="TT Hoves Bold" panose="02000003020000060003"/>
              <a:ea typeface="TT Hoves Bold" panose="02000003020000060003"/>
              <a:cs typeface="TT Hoves Bold" panose="02000003020000060003"/>
              <a:sym typeface="TT Hoves Bold" panose="02000003020000060003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</a:pPr>
            <a:r>
              <a:rPr lang="en-US" altLang="en-US" sz="6600" b="1">
                <a:solidFill>
                  <a:srgbClr val="171C24"/>
                </a:solidFill>
                <a:latin typeface="TT Hoves Bold" panose="02000003020000060003"/>
                <a:ea typeface="TT Hoves Bold" panose="02000003020000060003"/>
                <a:cs typeface="TT Hoves Bold" panose="02000003020000060003"/>
                <a:sym typeface="TT Hoves Bold" panose="02000003020000060003"/>
              </a:rPr>
              <a:t>(Phase 1: Warm-Starting B&amp;B)</a:t>
            </a:r>
            <a:endParaRPr lang="en-US" altLang="en-US" sz="6600" b="1">
              <a:solidFill>
                <a:srgbClr val="171C24"/>
              </a:solidFill>
              <a:latin typeface="TT Hoves Bold" panose="02000003020000060003"/>
              <a:ea typeface="TT Hoves Bold" panose="02000003020000060003"/>
              <a:cs typeface="TT Hoves Bold" panose="02000003020000060003"/>
              <a:sym typeface="TT Hoves Bold" panose="02000003020000060003"/>
            </a:endParaRPr>
          </a:p>
        </p:txBody>
      </p:sp>
      <p:sp>
        <p:nvSpPr>
          <p:cNvPr id="5" name="TextBox 2"/>
          <p:cNvSpPr txBox="1"/>
          <p:nvPr/>
        </p:nvSpPr>
        <p:spPr>
          <a:xfrm>
            <a:off x="1011555" y="2644775"/>
            <a:ext cx="16019145" cy="554291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marL="1187450" lvl="1" indent="-593725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altLang="en-US" sz="4800"/>
              <a:t>The Defect: Standard B&amp;B explores the tree blindly with an upper bound of INFINITY.</a:t>
            </a:r>
            <a:endParaRPr lang="en-US" altLang="en-US" sz="4800"/>
          </a:p>
          <a:p>
            <a:pPr marL="1187450" lvl="1" indent="-593725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altLang="en-US" sz="4800"/>
              <a:t>The Fix: Run a lightning-fast Ant Colony (ACO) heuristic for 5 milliseconds first.</a:t>
            </a:r>
            <a:endParaRPr lang="en-US" altLang="en-US" sz="4800"/>
          </a:p>
          <a:p>
            <a:pPr marL="1187450" lvl="1" indent="-593725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altLang="en-US" sz="4800"/>
              <a:t>The Trade-off: Spend a tiny amount of time upfront to generate a strict, realistic Upper Bound. B&amp;B immediately prunes 90% of the tree.</a:t>
            </a:r>
            <a:endParaRPr lang="en-US" altLang="en-US" sz="48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78145" y="163550"/>
            <a:ext cx="16781155" cy="2031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spcBef>
                <a:spcPct val="0"/>
              </a:spcBef>
            </a:pPr>
            <a:r>
              <a:rPr lang="en-US" altLang="en-US" sz="6600" b="1">
                <a:solidFill>
                  <a:srgbClr val="171C24"/>
                </a:solidFill>
                <a:latin typeface="TT Hoves Bold" panose="02000003020000060003"/>
                <a:ea typeface="TT Hoves Bold" panose="02000003020000060003"/>
                <a:cs typeface="TT Hoves Bold" panose="02000003020000060003"/>
                <a:sym typeface="TT Hoves Bold" panose="02000003020000060003"/>
              </a:rPr>
              <a:t>Scaling TSP </a:t>
            </a:r>
            <a:endParaRPr lang="en-US" altLang="en-US" sz="6600" b="1">
              <a:solidFill>
                <a:srgbClr val="171C24"/>
              </a:solidFill>
              <a:latin typeface="TT Hoves Bold" panose="02000003020000060003"/>
              <a:ea typeface="TT Hoves Bold" panose="02000003020000060003"/>
              <a:cs typeface="TT Hoves Bold" panose="02000003020000060003"/>
              <a:sym typeface="TT Hoves Bold" panose="02000003020000060003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</a:pPr>
            <a:r>
              <a:rPr lang="en-US" altLang="en-US" sz="6600" b="1">
                <a:solidFill>
                  <a:srgbClr val="171C24"/>
                </a:solidFill>
                <a:latin typeface="TT Hoves Bold" panose="02000003020000060003"/>
                <a:ea typeface="TT Hoves Bold" panose="02000003020000060003"/>
                <a:cs typeface="TT Hoves Bold" panose="02000003020000060003"/>
                <a:sym typeface="TT Hoves Bold" panose="02000003020000060003"/>
              </a:rPr>
              <a:t>(Phase 2: Clustered Micro-Routing)</a:t>
            </a:r>
            <a:endParaRPr lang="en-US" altLang="en-US" sz="6600" b="1">
              <a:solidFill>
                <a:srgbClr val="171C24"/>
              </a:solidFill>
              <a:latin typeface="TT Hoves Bold" panose="02000003020000060003"/>
              <a:ea typeface="TT Hoves Bold" panose="02000003020000060003"/>
              <a:cs typeface="TT Hoves Bold" panose="02000003020000060003"/>
              <a:sym typeface="TT Hoves Bold" panose="02000003020000060003"/>
            </a:endParaRPr>
          </a:p>
        </p:txBody>
      </p:sp>
      <p:sp>
        <p:nvSpPr>
          <p:cNvPr id="5" name="TextBox 2"/>
          <p:cNvSpPr txBox="1"/>
          <p:nvPr/>
        </p:nvSpPr>
        <p:spPr>
          <a:xfrm>
            <a:off x="1011555" y="2644775"/>
            <a:ext cx="16019145" cy="554291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marL="1187450" lvl="1" indent="-593725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altLang="en-US" sz="4800"/>
              <a:t>The Strategy: Divide and Conquer via K-Medoids.</a:t>
            </a:r>
            <a:endParaRPr lang="en-US" altLang="en-US" sz="4800"/>
          </a:p>
          <a:p>
            <a:pPr marL="1187450" lvl="1" indent="-593725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altLang="en-US" sz="4800"/>
              <a:t>Execution: Break a 100-city map into localized zones of 10-12 cities. Run the exact, warm-started B&amp;B independently inside each zone.</a:t>
            </a:r>
            <a:endParaRPr lang="en-US" altLang="en-US" sz="4800"/>
          </a:p>
          <a:p>
            <a:pPr marL="1187450" lvl="1" indent="-593725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altLang="en-US" sz="4800"/>
              <a:t>Result: Guaranteed local mathematical perfection executed in milliseconds.</a:t>
            </a:r>
            <a:endParaRPr lang="en-US" altLang="en-US" sz="4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78145" y="163550"/>
            <a:ext cx="16781155" cy="2031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spcBef>
                <a:spcPct val="0"/>
              </a:spcBef>
            </a:pPr>
            <a:r>
              <a:rPr lang="en-US" altLang="en-US" sz="6600" b="1">
                <a:solidFill>
                  <a:srgbClr val="171C24"/>
                </a:solidFill>
                <a:latin typeface="TT Hoves Bold" panose="02000003020000060003"/>
                <a:ea typeface="TT Hoves Bold" panose="02000003020000060003"/>
                <a:cs typeface="TT Hoves Bold" panose="02000003020000060003"/>
                <a:sym typeface="TT Hoves Bold" panose="02000003020000060003"/>
              </a:rPr>
              <a:t>Scaling Knapsack </a:t>
            </a:r>
            <a:endParaRPr lang="en-US" altLang="en-US" sz="6600" b="1">
              <a:solidFill>
                <a:srgbClr val="171C24"/>
              </a:solidFill>
              <a:latin typeface="TT Hoves Bold" panose="02000003020000060003"/>
              <a:ea typeface="TT Hoves Bold" panose="02000003020000060003"/>
              <a:cs typeface="TT Hoves Bold" panose="02000003020000060003"/>
              <a:sym typeface="TT Hoves Bold" panose="02000003020000060003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</a:pPr>
            <a:r>
              <a:rPr lang="en-US" altLang="en-US" sz="6600" b="1">
                <a:solidFill>
                  <a:srgbClr val="171C24"/>
                </a:solidFill>
                <a:latin typeface="TT Hoves Bold" panose="02000003020000060003"/>
                <a:ea typeface="TT Hoves Bold" panose="02000003020000060003"/>
                <a:cs typeface="TT Hoves Bold" panose="02000003020000060003"/>
                <a:sym typeface="TT Hoves Bold" panose="02000003020000060003"/>
              </a:rPr>
              <a:t>(Phase 1: The Greedy Baseline)</a:t>
            </a:r>
            <a:endParaRPr lang="en-US" altLang="en-US" sz="6600" b="1">
              <a:solidFill>
                <a:srgbClr val="171C24"/>
              </a:solidFill>
              <a:latin typeface="TT Hoves Bold" panose="02000003020000060003"/>
              <a:ea typeface="TT Hoves Bold" panose="02000003020000060003"/>
              <a:cs typeface="TT Hoves Bold" panose="02000003020000060003"/>
              <a:sym typeface="TT Hoves Bold" panose="02000003020000060003"/>
            </a:endParaRPr>
          </a:p>
        </p:txBody>
      </p:sp>
      <p:sp>
        <p:nvSpPr>
          <p:cNvPr id="5" name="TextBox 2"/>
          <p:cNvSpPr txBox="1"/>
          <p:nvPr/>
        </p:nvSpPr>
        <p:spPr>
          <a:xfrm>
            <a:off x="1011555" y="2644775"/>
            <a:ext cx="16019145" cy="554291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marL="1187450" lvl="1" indent="-593725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altLang="en-US" sz="4800"/>
              <a:t>The Metric: Value Density (Profit per Unit of Weight).</a:t>
            </a:r>
            <a:endParaRPr lang="en-US" altLang="en-US" sz="4800"/>
          </a:p>
          <a:p>
            <a:pPr marL="1187450" lvl="1" indent="-593725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altLang="en-US" sz="4800"/>
              <a:t>The Trade-off: Standard Greedy sorting is blazing fast </a:t>
            </a:r>
            <a:endParaRPr lang="en-US" altLang="en-US" sz="4800"/>
          </a:p>
          <a:p>
            <a:pPr marL="593725" lvl="1" indent="457200" algn="l">
              <a:lnSpc>
                <a:spcPct val="100000"/>
              </a:lnSpc>
              <a:buFont typeface="Arial" panose="020B0604020202020204"/>
              <a:buNone/>
            </a:pPr>
            <a:r>
              <a:rPr lang="en-US" altLang="en-US" sz="4800"/>
              <a:t>(O(N log N)) but mathematically imperfect because it leaves    	 empty gaps in the knapsack.</a:t>
            </a:r>
            <a:endParaRPr lang="en-US" altLang="en-US" sz="4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78145" y="163550"/>
            <a:ext cx="16781155" cy="2031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spcBef>
                <a:spcPct val="0"/>
              </a:spcBef>
            </a:pPr>
            <a:r>
              <a:rPr lang="en-US" altLang="en-US" sz="6600" b="1">
                <a:solidFill>
                  <a:srgbClr val="171C24"/>
                </a:solidFill>
                <a:latin typeface="TT Hoves Bold" panose="02000003020000060003"/>
                <a:ea typeface="TT Hoves Bold" panose="02000003020000060003"/>
                <a:cs typeface="TT Hoves Bold" panose="02000003020000060003"/>
                <a:sym typeface="TT Hoves Bold" panose="02000003020000060003"/>
              </a:rPr>
              <a:t>Scaling Knapsack </a:t>
            </a:r>
            <a:endParaRPr lang="en-US" altLang="en-US" sz="6600" b="1">
              <a:solidFill>
                <a:srgbClr val="171C24"/>
              </a:solidFill>
              <a:latin typeface="TT Hoves Bold" panose="02000003020000060003"/>
              <a:ea typeface="TT Hoves Bold" panose="02000003020000060003"/>
              <a:cs typeface="TT Hoves Bold" panose="02000003020000060003"/>
              <a:sym typeface="TT Hoves Bold" panose="02000003020000060003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</a:pPr>
            <a:r>
              <a:rPr lang="en-US" altLang="en-US" sz="6600" b="1">
                <a:solidFill>
                  <a:srgbClr val="171C24"/>
                </a:solidFill>
                <a:latin typeface="TT Hoves Bold" panose="02000003020000060003"/>
                <a:ea typeface="TT Hoves Bold" panose="02000003020000060003"/>
                <a:cs typeface="TT Hoves Bold" panose="02000003020000060003"/>
                <a:sym typeface="TT Hoves Bold" panose="02000003020000060003"/>
              </a:rPr>
              <a:t>(Phase 2: The Core-Problem Hybrid)</a:t>
            </a:r>
            <a:endParaRPr lang="en-US" altLang="en-US" sz="6600" b="1">
              <a:solidFill>
                <a:srgbClr val="171C24"/>
              </a:solidFill>
              <a:latin typeface="TT Hoves Bold" panose="02000003020000060003"/>
              <a:ea typeface="TT Hoves Bold" panose="02000003020000060003"/>
              <a:cs typeface="TT Hoves Bold" panose="02000003020000060003"/>
              <a:sym typeface="TT Hoves Bold" panose="02000003020000060003"/>
            </a:endParaRPr>
          </a:p>
        </p:txBody>
      </p:sp>
      <p:sp>
        <p:nvSpPr>
          <p:cNvPr id="5" name="TextBox 2"/>
          <p:cNvSpPr txBox="1"/>
          <p:nvPr/>
        </p:nvSpPr>
        <p:spPr>
          <a:xfrm>
            <a:off x="1011555" y="2644775"/>
            <a:ext cx="16019145" cy="554291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marL="1187450" lvl="1" indent="-593725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altLang="en-US" sz="4800"/>
              <a:t>The Strategy: Dantzig-Wolfe Decomposition.</a:t>
            </a:r>
            <a:endParaRPr lang="en-US" altLang="en-US" sz="4800"/>
          </a:p>
          <a:p>
            <a:pPr marL="1187450" lvl="1" indent="-593725" algn="l">
              <a:lnSpc>
                <a:spcPct val="100000"/>
              </a:lnSpc>
              <a:buFont typeface="Arial" panose="020B0604020202020204"/>
              <a:buChar char="•"/>
            </a:pPr>
            <a:r>
              <a:rPr lang="en-US" altLang="en-US" sz="4800"/>
              <a:t>Execution:</a:t>
            </a:r>
            <a:endParaRPr lang="en-US" altLang="en-US" sz="4800"/>
          </a:p>
          <a:p>
            <a:pPr marL="2422525" lvl="3" indent="-914400" algn="l">
              <a:lnSpc>
                <a:spcPct val="100000"/>
              </a:lnSpc>
              <a:buFont typeface="Arial" panose="020B0604020202020204"/>
              <a:buAutoNum type="arabicPeriod"/>
            </a:pPr>
            <a:r>
              <a:rPr lang="en-US" altLang="en-US" sz="4800"/>
              <a:t>Sort all items by density and find the "Break Item" where capacity fails.</a:t>
            </a:r>
            <a:endParaRPr lang="en-US" altLang="en-US" sz="4800"/>
          </a:p>
          <a:p>
            <a:pPr marL="2422525" lvl="3" indent="-914400" algn="l">
              <a:lnSpc>
                <a:spcPct val="100000"/>
              </a:lnSpc>
              <a:buFont typeface="Arial" panose="020B0604020202020204"/>
              <a:buAutoNum type="arabicPeriod"/>
            </a:pPr>
            <a:r>
              <a:rPr lang="en-US" altLang="en-US" sz="4800"/>
              <a:t>Lock the obvious high-density items. Discard the obvious low-density junk.</a:t>
            </a:r>
            <a:endParaRPr lang="en-US" altLang="en-US" sz="4800"/>
          </a:p>
          <a:p>
            <a:pPr marL="2422525" lvl="3" indent="-914400" algn="l">
              <a:lnSpc>
                <a:spcPct val="100000"/>
              </a:lnSpc>
              <a:buFont typeface="Arial" panose="020B0604020202020204"/>
              <a:buAutoNum type="arabicPeriod"/>
            </a:pPr>
            <a:r>
              <a:rPr lang="en-US" altLang="en-US" sz="4800"/>
              <a:t>Slice a "Core" of 40 ambiguous items around the break point.</a:t>
            </a:r>
            <a:endParaRPr lang="en-US" altLang="en-US" sz="4800"/>
          </a:p>
          <a:p>
            <a:pPr marL="2422525" lvl="3" indent="-914400" algn="l">
              <a:lnSpc>
                <a:spcPct val="100000"/>
              </a:lnSpc>
              <a:buFont typeface="Arial" panose="020B0604020202020204"/>
              <a:buAutoNum type="arabicPeriod"/>
            </a:pPr>
            <a:r>
              <a:rPr lang="en-US" altLang="en-US" sz="4800"/>
              <a:t>Feed only the Core into the Exact B&amp;B solver.</a:t>
            </a:r>
            <a:endParaRPr lang="en-US" altLang="en-US" sz="4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78145" y="163550"/>
            <a:ext cx="16781155" cy="2031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spcBef>
                <a:spcPct val="0"/>
              </a:spcBef>
            </a:pPr>
            <a:r>
              <a:rPr lang="en-US" altLang="en-US" sz="6600" b="1">
                <a:solidFill>
                  <a:srgbClr val="171C24"/>
                </a:solidFill>
                <a:latin typeface="TT Hoves Bold" panose="02000003020000060003"/>
                <a:ea typeface="TT Hoves Bold" panose="02000003020000060003"/>
                <a:cs typeface="TT Hoves Bold" panose="02000003020000060003"/>
                <a:sym typeface="TT Hoves Bold" panose="02000003020000060003"/>
              </a:rPr>
              <a:t>Performance, Complexity &amp; Accuracy Comparison</a:t>
            </a:r>
            <a:endParaRPr lang="en-US" altLang="en-US" sz="6600" b="1">
              <a:solidFill>
                <a:srgbClr val="171C24"/>
              </a:solidFill>
              <a:latin typeface="TT Hoves Bold" panose="02000003020000060003"/>
              <a:ea typeface="TT Hoves Bold" panose="02000003020000060003"/>
              <a:cs typeface="TT Hoves Bold" panose="02000003020000060003"/>
              <a:sym typeface="TT Hoves Bold" panose="02000003020000060003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1555750" y="2418715"/>
            <a:ext cx="756031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4800"/>
              <a:t>Theoretical Complexity</a:t>
            </a:r>
            <a:endParaRPr lang="en-US" sz="480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/>
              <p:cNvGraphicFramePr/>
              <p:nvPr/>
            </p:nvGraphicFramePr>
            <p:xfrm>
              <a:off x="1281430" y="3295650"/>
              <a:ext cx="15725775" cy="5588000"/>
            </p:xfrm>
            <a:graphic>
              <a:graphicData uri="http://schemas.openxmlformats.org/drawingml/2006/table">
                <a:tbl>
                  <a:tblPr/>
                  <a:tblGrid>
                    <a:gridCol w="2134235"/>
                    <a:gridCol w="4187825"/>
                    <a:gridCol w="3302635"/>
                    <a:gridCol w="2750820"/>
                    <a:gridCol w="3350260"/>
                  </a:tblGrid>
                  <a:tr h="858520"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Problem Category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Algorithm Mode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Mathematical Complexity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Accuracy (Optimality)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N-Limit (Execution)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0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</a:tr>
                  <a:tr h="858520"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TSP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Exact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(Branch &amp; Bound)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O(N!)— Factorial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100% (Exact)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N </a:t>
                          </a:r>
                          <a14:m>
                            <m:oMath xmlns:m="http://schemas.openxmlformats.org/officeDocument/2006/math">
                              <m:r>
                                <a:rPr lang="en-US" sz="3000" i="1">
                                  <a:solidFill>
                                    <a:srgbClr val="1F1F1F"/>
                                  </a:solidFill>
                                  <a:latin typeface="Cambria Math" panose="02040503050406030204" charset="0"/>
                                  <a:ea typeface="Google Sans Text"/>
                                  <a:cs typeface="Cambria Math" panose="02040503050406030204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 22 (Safe)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0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</a:tr>
                  <a:tr h="858520"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TSP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Hybrid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(Clustered)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O(K</a:t>
                          </a:r>
                          <a:r>
                            <a:rPr lang="en-US"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.</a:t>
                          </a: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B&amp;B</a:t>
                          </a:r>
                          <a:r>
                            <a:rPr lang="en-US"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 </a:t>
                          </a: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local</a:t>
                          </a:r>
                          <a:r>
                            <a:rPr lang="en-US"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)</a:t>
                          </a:r>
                          <a:endParaRPr lang="en-US"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~98%+ 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(Local Exact)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N = 1000</a:t>
                          </a:r>
                          <a:r>
                            <a:rPr lang="en-US"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+</a:t>
                          </a: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 (Scalable)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0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</a:tr>
                  <a:tr h="858520"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Knapsack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Exact 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(Branch &amp; Bound)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lang="en-US"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O</a:t>
                          </a: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3000" i="1">
                                      <a:solidFill>
                                        <a:srgbClr val="1F1F1F"/>
                                      </a:solidFill>
                                      <a:latin typeface="Cambria Math" panose="02040503050406030204" charset="0"/>
                                      <a:ea typeface="Google Sans Text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000" i="1">
                                      <a:solidFill>
                                        <a:srgbClr val="1F1F1F"/>
                                      </a:solidFill>
                                      <a:latin typeface="Cambria Math" panose="02040503050406030204" charset="0"/>
                                      <a:ea typeface="Google Sans Text"/>
                                      <a:cs typeface="Cambria Math" panose="02040503050406030204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3000" i="1">
                                      <a:solidFill>
                                        <a:srgbClr val="1F1F1F"/>
                                      </a:solidFill>
                                      <a:latin typeface="Cambria Math" panose="02040503050406030204" charset="0"/>
                                      <a:ea typeface="Google Sans Text"/>
                                      <a:cs typeface="Cambria Math" panose="02040503050406030204" charset="0"/>
                                    </a:rPr>
                                    <m:t>𝑁</m:t>
                                  </m:r>
                                </m:sup>
                              </m:sSup>
                            </m:oMath>
                          </a14:m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)Exponential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100% (Exact)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N </a:t>
                          </a:r>
                          <a14:m>
                            <m:oMath xmlns:m="http://schemas.openxmlformats.org/officeDocument/2006/math">
                              <m:r>
                                <a:rPr lang="en-US" sz="3000" i="1">
                                  <a:solidFill>
                                    <a:srgbClr val="1F1F1F"/>
                                  </a:solidFill>
                                  <a:latin typeface="Cambria Math" panose="02040503050406030204" charset="0"/>
                                  <a:ea typeface="Google Sans Text"/>
                                  <a:cs typeface="Cambria Math" panose="02040503050406030204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 28 (Safe)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0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</a:tr>
                  <a:tr h="858520"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Knapsack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Hybrid 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(Core-Problem)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O(NlogN)+ O(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3000" i="1">
                                      <a:solidFill>
                                        <a:srgbClr val="1F1F1F"/>
                                      </a:solidFill>
                                      <a:latin typeface="Cambria Math" panose="02040503050406030204" charset="0"/>
                                      <a:ea typeface="Google Sans Text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000" i="1">
                                      <a:solidFill>
                                        <a:srgbClr val="1F1F1F"/>
                                      </a:solidFill>
                                      <a:latin typeface="Cambria Math" panose="02040503050406030204" charset="0"/>
                                      <a:ea typeface="Google Sans Text"/>
                                      <a:cs typeface="Cambria Math" panose="02040503050406030204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3000" i="1">
                                      <a:solidFill>
                                        <a:srgbClr val="1F1F1F"/>
                                      </a:solidFill>
                                      <a:latin typeface="Cambria Math" panose="02040503050406030204" charset="0"/>
                                      <a:ea typeface="Google Sans Text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p>
                              </m:sSup>
                            </m:oMath>
                          </a14:m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)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~99.9% 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(Near-Perfect)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N = 100,000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(Scalable)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0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/>
              <p:cNvGraphicFramePr/>
              <p:nvPr/>
            </p:nvGraphicFramePr>
            <p:xfrm>
              <a:off x="1281430" y="3295650"/>
              <a:ext cx="15725775" cy="5588000"/>
            </p:xfrm>
            <a:graphic>
              <a:graphicData uri="http://schemas.openxmlformats.org/drawingml/2006/table">
                <a:tbl>
                  <a:tblPr/>
                  <a:tblGrid>
                    <a:gridCol w="2134235"/>
                    <a:gridCol w="4187825"/>
                    <a:gridCol w="3302635"/>
                    <a:gridCol w="2750820"/>
                    <a:gridCol w="3350260"/>
                  </a:tblGrid>
                  <a:tr h="858520"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Problem Category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Algorithm Mode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Mathematical Complexity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Accuracy (Optimality)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N-Limit (Execution)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0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</a:tr>
                  <a:tr h="1117600"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TSP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Exact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(Branch &amp; Bound)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O(N!)— Factorial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100% (Exact)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blipFill>
                          <a:blip r:embed="rId1"/>
                        </a:blipFill>
                      </a:tcPr>
                    </a:tc>
                  </a:tr>
                  <a:tr h="858520"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TSP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Hybrid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(Clustered)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O(K</a:t>
                          </a:r>
                          <a:r>
                            <a:rPr lang="en-US"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.</a:t>
                          </a: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B&amp;B</a:t>
                          </a:r>
                          <a:r>
                            <a:rPr lang="en-US"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 </a:t>
                          </a: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local</a:t>
                          </a:r>
                          <a:r>
                            <a:rPr lang="en-US"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)</a:t>
                          </a:r>
                          <a:endParaRPr lang="en-US"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~98%+ 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(Local Exact)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N = 1000</a:t>
                          </a:r>
                          <a:r>
                            <a:rPr lang="en-US"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+</a:t>
                          </a: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 (Scalable)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0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</a:tr>
                  <a:tr h="1117600"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Knapsack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Exact 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(Branch &amp; Bound)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100% (Exact)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blipFill>
                          <a:blip r:embed="rId1"/>
                        </a:blipFill>
                      </a:tcPr>
                    </a:tc>
                  </a:tr>
                  <a:tr h="1117600"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Knapsack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Hybrid 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(Core-Problem)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~99.9% 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 b="1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(Near-Perfect)</a:t>
                          </a:r>
                          <a:endParaRPr sz="3000" b="1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76517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N = 100,000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  <a:p>
                          <a:pPr marL="0" indent="0"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</a:pPr>
                          <a:r>
                            <a:rPr sz="3000">
                              <a:solidFill>
                                <a:srgbClr val="1F1F1F"/>
                              </a:solidFill>
                              <a:latin typeface="Google Sans Text"/>
                              <a:ea typeface="Google Sans Text"/>
                            </a:rPr>
                            <a:t>(Scalable)</a:t>
                          </a:r>
                          <a:endParaRPr sz="3000">
                            <a:solidFill>
                              <a:srgbClr val="1F1F1F"/>
                            </a:solidFill>
                            <a:latin typeface="Google Sans Text"/>
                            <a:ea typeface="Google Sans Text"/>
                          </a:endParaRPr>
                        </a:p>
                      </a:txBody>
                      <a:tcPr marL="0" marR="0" marT="101917" marB="101917" anchor="ctr" anchorCtr="0">
                        <a:lnL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L>
                        <a:lnR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R>
                        <a:lnT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T>
                        <a:lnB w="6350" cap="flat" cmpd="sng">
                          <a:solidFill>
                            <a:srgbClr val="000000"/>
                          </a:solidFill>
                          <a:prstDash val="solid"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40433" y="2202597"/>
            <a:ext cx="16018867" cy="5924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187450" lvl="1" indent="-593725" algn="l">
              <a:lnSpc>
                <a:spcPts val="7700"/>
              </a:lnSpc>
              <a:buFont typeface="Arial" panose="020B0604020202020204"/>
              <a:buChar char="•"/>
            </a:pPr>
            <a:r>
              <a:rPr lang="en-US" altLang="en-US" sz="4800"/>
              <a:t>Frontend: Java Swing (TSPPanel.java, KnapsackPanel.java).</a:t>
            </a:r>
            <a:endParaRPr lang="en-US" altLang="en-US" sz="4800"/>
          </a:p>
          <a:p>
            <a:pPr marL="1187450" lvl="1" indent="-593725" algn="l">
              <a:lnSpc>
                <a:spcPts val="7700"/>
              </a:lnSpc>
              <a:buFont typeface="Arial" panose="020B0604020202020204"/>
              <a:buChar char="•"/>
            </a:pPr>
            <a:r>
              <a:rPr lang="en-US" altLang="en-US" sz="4800"/>
              <a:t>Dynamic Visualization: Java Graphics2D rendering for interactive matrix and graph validation.</a:t>
            </a:r>
            <a:endParaRPr lang="en-US" altLang="en-US" sz="4800"/>
          </a:p>
          <a:p>
            <a:pPr marL="1187450" lvl="1" indent="-593725" algn="l">
              <a:lnSpc>
                <a:spcPts val="7700"/>
              </a:lnSpc>
              <a:buFont typeface="Arial" panose="020B0604020202020204"/>
              <a:buChar char="•"/>
            </a:pPr>
            <a:r>
              <a:rPr lang="en-US" altLang="en-US" sz="4800"/>
              <a:t>The Interceptor: If a user requests Mode 1 (Pure B&amp;B) on N=50, the UI safely intercepts and re-routes to the massive-scale Hybrids to prevent JVM/C-backend crashes.</a:t>
            </a:r>
            <a:endParaRPr lang="en-US" altLang="en-US" sz="4800"/>
          </a:p>
        </p:txBody>
      </p:sp>
      <p:sp>
        <p:nvSpPr>
          <p:cNvPr id="3" name="TextBox 3"/>
          <p:cNvSpPr txBox="1"/>
          <p:nvPr/>
        </p:nvSpPr>
        <p:spPr>
          <a:xfrm>
            <a:off x="-434667" y="314327"/>
            <a:ext cx="19157333" cy="1346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  <a:spcBef>
                <a:spcPct val="0"/>
              </a:spcBef>
            </a:pPr>
            <a:r>
              <a:rPr lang="en-US" altLang="en-US" sz="6600" b="1">
                <a:solidFill>
                  <a:srgbClr val="171C24"/>
                </a:solidFill>
                <a:latin typeface="TT Hoves Bold" panose="02000003020000060003"/>
                <a:ea typeface="TT Hoves Bold" panose="02000003020000060003"/>
                <a:cs typeface="TT Hoves Bold" panose="02000003020000060003"/>
                <a:sym typeface="TT Hoves Bold" panose="02000003020000060003"/>
              </a:rPr>
              <a:t>User Interface &amp; Safety Architecture</a:t>
            </a:r>
            <a:endParaRPr lang="en-US" altLang="en-US" sz="6600" b="1">
              <a:solidFill>
                <a:srgbClr val="171C24"/>
              </a:solidFill>
              <a:latin typeface="TT Hoves Bold" panose="02000003020000060003"/>
              <a:ea typeface="TT Hoves Bold" panose="02000003020000060003"/>
              <a:cs typeface="TT Hoves Bold" panose="02000003020000060003"/>
              <a:sym typeface="TT Hoves Bold" panose="02000003020000060003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64233" y="1973997"/>
            <a:ext cx="16018867" cy="7755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3725" lvl="1" indent="0" algn="l">
              <a:lnSpc>
                <a:spcPct val="100000"/>
              </a:lnSpc>
              <a:buFont typeface="Arial" panose="020B0604020202020204"/>
              <a:buNone/>
            </a:pPr>
            <a:r>
              <a:rPr lang="en-US" altLang="en-US" sz="3600"/>
              <a:t>The Full-Stack Optimization Loop:</a:t>
            </a:r>
            <a:endParaRPr lang="en-US" altLang="en-US" sz="3600"/>
          </a:p>
          <a:p>
            <a:pPr marL="1108075" lvl="1" indent="-514350" algn="l">
              <a:lnSpc>
                <a:spcPct val="100000"/>
              </a:lnSpc>
              <a:buFont typeface="Arial" panose="020B0604020202020204"/>
              <a:buAutoNum type="arabicPeriod"/>
            </a:pPr>
            <a:r>
              <a:rPr lang="en-US" altLang="en-US" sz="3600"/>
              <a:t>User Input (Java Swing): User configures N and selects the algorithm mode.</a:t>
            </a:r>
            <a:endParaRPr lang="en-US" altLang="en-US" sz="3600"/>
          </a:p>
          <a:p>
            <a:pPr marL="1108075" lvl="1" indent="-514350" algn="l">
              <a:lnSpc>
                <a:spcPct val="100000"/>
              </a:lnSpc>
              <a:buFont typeface="Arial" panose="020B0604020202020204"/>
              <a:buAutoNum type="arabicPeriod"/>
            </a:pPr>
            <a:r>
              <a:rPr lang="en-US" altLang="en-US" sz="3600"/>
              <a:t>The Safety Interceptor: The UI checks N against the "Complexity Wall" (N &gt; 22 for TSP) and re-routes to Hybrid engines to protect system memory.</a:t>
            </a:r>
            <a:endParaRPr lang="en-US" altLang="en-US" sz="3600"/>
          </a:p>
          <a:p>
            <a:pPr marL="1108075" lvl="1" indent="-514350" algn="l">
              <a:lnSpc>
                <a:spcPct val="100000"/>
              </a:lnSpc>
              <a:buFont typeface="Arial" panose="020B0604020202020204"/>
              <a:buAutoNum type="arabicPeriod"/>
            </a:pPr>
            <a:r>
              <a:rPr lang="en-US" altLang="en-US" sz="3600"/>
              <a:t>The Data Bridge: Java writes the problem state to input.txt and executes the C backend via a ProcessBuilder stream.</a:t>
            </a:r>
            <a:endParaRPr lang="en-US" altLang="en-US" sz="3600"/>
          </a:p>
          <a:p>
            <a:pPr marL="1108075" lvl="1" indent="-514350" algn="l">
              <a:lnSpc>
                <a:spcPct val="100000"/>
              </a:lnSpc>
              <a:buFont typeface="Arial" panose="020B0604020202020204"/>
              <a:buAutoNum type="arabicPeriod"/>
            </a:pPr>
            <a:r>
              <a:rPr lang="en-US" altLang="en-US" sz="3600"/>
              <a:t>C-Backend Orchestration:</a:t>
            </a:r>
            <a:endParaRPr lang="en-US" altLang="en-US" sz="3600"/>
          </a:p>
          <a:p>
            <a:pPr marL="1508125" lvl="2" indent="-4572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US" sz="3600"/>
              <a:t>Parsing: The C engine loads the matrix/items into manual memory structures.</a:t>
            </a:r>
            <a:endParaRPr lang="en-US" altLang="en-US" sz="3600"/>
          </a:p>
          <a:p>
            <a:pPr marL="1508125" lvl="2" indent="-4572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US" sz="3600"/>
              <a:t>Optimization: The engine executes the Branch &amp; Bound search tree, often warm-started by ACO or reduced by Clustering.</a:t>
            </a:r>
            <a:endParaRPr lang="en-US" altLang="en-US" sz="3600"/>
          </a:p>
          <a:p>
            <a:pPr marL="1108075" lvl="1" indent="-514350" algn="l">
              <a:lnSpc>
                <a:spcPct val="100000"/>
              </a:lnSpc>
              <a:buAutoNum type="arabicPeriod"/>
            </a:pPr>
            <a:r>
              <a:rPr lang="en-US" altLang="en-US" sz="3600">
                <a:solidFill>
                  <a:schemeClr val="tx1"/>
                </a:solidFill>
              </a:rPr>
              <a:t>Result Streaming: The C engine writes the final path/profit and execution metrics to solution.csv.</a:t>
            </a:r>
            <a:endParaRPr lang="en-US" altLang="en-US" sz="3600">
              <a:solidFill>
                <a:schemeClr val="tx1"/>
              </a:solidFill>
            </a:endParaRPr>
          </a:p>
          <a:p>
            <a:pPr marL="1108075" lvl="1" indent="-514350" algn="l">
              <a:lnSpc>
                <a:spcPct val="100000"/>
              </a:lnSpc>
              <a:buAutoNum type="arabicPeriod"/>
            </a:pPr>
            <a:r>
              <a:rPr lang="en-US" altLang="en-US" sz="3600">
                <a:solidFill>
                  <a:schemeClr val="tx1"/>
                </a:solidFill>
              </a:rPr>
              <a:t>Visual Rendering: Java parses the CSV, updates the results table, and draws the optimized route/knapsack bars using Graphics2D.</a:t>
            </a:r>
            <a:endParaRPr lang="en-US" altLang="en-US" sz="3600">
              <a:solidFill>
                <a:schemeClr val="tx1"/>
              </a:solidFill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-434667" y="314327"/>
            <a:ext cx="19157333" cy="1346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  <a:spcBef>
                <a:spcPct val="0"/>
              </a:spcBef>
            </a:pPr>
            <a:r>
              <a:rPr lang="en-US" altLang="en-US" sz="6600" b="1">
                <a:solidFill>
                  <a:srgbClr val="171C24"/>
                </a:solidFill>
                <a:latin typeface="TT Hoves Bold" panose="02000003020000060003"/>
                <a:ea typeface="TT Hoves Bold" panose="02000003020000060003"/>
                <a:cs typeface="TT Hoves Bold" panose="02000003020000060003"/>
                <a:sym typeface="TT Hoves Bold" panose="02000003020000060003"/>
              </a:rPr>
              <a:t>Project Workflow &amp; Execution Pipeline</a:t>
            </a:r>
            <a:endParaRPr lang="en-US" altLang="en-US" sz="6600" b="1">
              <a:solidFill>
                <a:srgbClr val="171C24"/>
              </a:solidFill>
              <a:latin typeface="TT Hoves Bold" panose="02000003020000060003"/>
              <a:ea typeface="TT Hoves Bold" panose="02000003020000060003"/>
              <a:cs typeface="TT Hoves Bold" panose="02000003020000060003"/>
              <a:sym typeface="TT Hoves Bold" panose="02000003020000060003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2"/>
              <p:cNvSpPr txBox="1"/>
              <p:nvPr/>
            </p:nvSpPr>
            <p:spPr>
              <a:xfrm>
                <a:off x="1316633" y="1745397"/>
                <a:ext cx="16018867" cy="8287385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1187450" lvl="1" indent="-593725" algn="l">
                  <a:lnSpc>
                    <a:spcPct val="100000"/>
                  </a:lnSpc>
                  <a:buFont typeface="Arial" panose="020B0604020202020204"/>
                  <a:buChar char="•"/>
                </a:pPr>
                <a:r>
                  <a:rPr lang="en-US" altLang="en-US" sz="4800"/>
                  <a:t>Mathematical Rigor: Engineered robust Branch &amp; Bound solvers using Matrix Reduction and Priority Queue management.</a:t>
                </a:r>
                <a:endParaRPr lang="en-US" altLang="en-US" sz="4800"/>
              </a:p>
              <a:p>
                <a:pPr marL="1187450" lvl="1" indent="-593725" algn="l">
                  <a:lnSpc>
                    <a:spcPct val="100000"/>
                  </a:lnSpc>
                  <a:buFont typeface="Arial" panose="020B0604020202020204"/>
                  <a:buChar char="•"/>
                </a:pPr>
                <a:r>
                  <a:rPr lang="en-US" altLang="en-US" sz="4800"/>
                  <a:t>Hardware Protection: Implemented safety interceptors and memory caps to manage O(N!) and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sz="4800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altLang="en-US" sz="4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e>
                      <m:sup>
                        <m:r>
                          <a:rPr lang="en-US" altLang="en-US" sz="4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altLang="en-US" sz="4800"/>
                  <a:t>) defects.</a:t>
                </a:r>
                <a:endParaRPr lang="en-US" altLang="en-US" sz="4800"/>
              </a:p>
              <a:p>
                <a:pPr marL="1187450" lvl="1" indent="-593725" algn="l">
                  <a:lnSpc>
                    <a:spcPct val="100000"/>
                  </a:lnSpc>
                  <a:buFont typeface="Arial" panose="020B0604020202020204"/>
                  <a:buChar char="•"/>
                </a:pPr>
                <a:r>
                  <a:rPr lang="en-US" altLang="en-US" sz="4800"/>
                  <a:t>Scalability: Developed Clustered and Core-Problem Hybrids that maintain ~98% accuracy on enterprise-scale datasets.</a:t>
                </a:r>
                <a:endParaRPr lang="en-US" altLang="en-US" sz="4800"/>
              </a:p>
              <a:p>
                <a:pPr marL="1187450" lvl="1" indent="-593725" algn="l">
                  <a:lnSpc>
                    <a:spcPct val="100000"/>
                  </a:lnSpc>
                  <a:buFont typeface="Arial" panose="020B0604020202020204"/>
                  <a:buChar char="•"/>
                </a:pPr>
                <a:r>
                  <a:rPr lang="en-US" altLang="en-US" sz="4800"/>
                  <a:t>Final Verdict"By implementing exact algorithms and engineering the hybrids needed to rescue them, we have bridged the gap between academic theory and scalable enterprise software."</a:t>
                </a:r>
                <a:endParaRPr lang="en-US" altLang="en-US" sz="4800"/>
              </a:p>
            </p:txBody>
          </p:sp>
        </mc:Choice>
        <mc:Fallback>
          <p:sp>
            <p:nvSpPr>
              <p:cNvPr id="2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6633" y="1745397"/>
                <a:ext cx="16018867" cy="8287385"/>
              </a:xfrm>
              <a:prstGeom prst="rect">
                <a:avLst/>
              </a:prstGeom>
              <a:blipFill rotWithShape="1">
                <a:blip r:embed="rId1"/>
                <a:stretch>
                  <a:fillRect l="-2" t="-82" b="5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3"/>
          <p:cNvSpPr txBox="1"/>
          <p:nvPr/>
        </p:nvSpPr>
        <p:spPr>
          <a:xfrm>
            <a:off x="-434667" y="314327"/>
            <a:ext cx="19157333" cy="1346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  <a:spcBef>
                <a:spcPct val="0"/>
              </a:spcBef>
            </a:pPr>
            <a:r>
              <a:rPr lang="en-US" altLang="en-US" sz="6600" b="1">
                <a:solidFill>
                  <a:srgbClr val="171C24"/>
                </a:solidFill>
                <a:latin typeface="TT Hoves Bold" panose="02000003020000060003"/>
                <a:ea typeface="TT Hoves Bold" panose="02000003020000060003"/>
                <a:cs typeface="TT Hoves Bold" panose="02000003020000060003"/>
                <a:sym typeface="TT Hoves Bold" panose="02000003020000060003"/>
              </a:rPr>
              <a:t>Conclusion &amp; Acknowledgements</a:t>
            </a:r>
            <a:endParaRPr lang="en-US" altLang="en-US" sz="6600" b="1">
              <a:solidFill>
                <a:srgbClr val="171C24"/>
              </a:solidFill>
              <a:latin typeface="TT Hoves Bold" panose="02000003020000060003"/>
              <a:ea typeface="TT Hoves Bold" panose="02000003020000060003"/>
              <a:cs typeface="TT Hoves Bold" panose="02000003020000060003"/>
              <a:sym typeface="TT Hoves Bold" panose="02000003020000060003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-434975" y="619125"/>
            <a:ext cx="19157315" cy="8722360"/>
          </a:xfrm>
          <a:prstGeom prst="rect">
            <a:avLst/>
          </a:prstGeom>
        </p:spPr>
        <p:txBody>
          <a:bodyPr lIns="0" tIns="0" rIns="0" bIns="0" rtlCol="0" anchor="ctr" anchorCtr="0">
            <a:noAutofit/>
          </a:bodyPr>
          <a:lstStyle/>
          <a:p>
            <a:pPr algn="ctr">
              <a:lnSpc>
                <a:spcPts val="10500"/>
              </a:lnSpc>
              <a:spcBef>
                <a:spcPct val="0"/>
              </a:spcBef>
            </a:pPr>
            <a:r>
              <a:rPr lang="en-US" altLang="en-US" sz="10000" b="1">
                <a:solidFill>
                  <a:srgbClr val="171C24"/>
                </a:solidFill>
                <a:latin typeface="TT Hoves Bold" panose="02000003020000060003"/>
                <a:ea typeface="TT Hoves Bold" panose="02000003020000060003"/>
                <a:cs typeface="TT Hoves Bold" panose="02000003020000060003"/>
                <a:sym typeface="TT Hoves Bold" panose="02000003020000060003"/>
              </a:rPr>
              <a:t>THANK YOU..</a:t>
            </a:r>
            <a:endParaRPr lang="en-US" altLang="en-US" sz="10000" b="1">
              <a:solidFill>
                <a:srgbClr val="171C24"/>
              </a:solidFill>
              <a:latin typeface="TT Hoves Bold" panose="02000003020000060003"/>
              <a:ea typeface="TT Hoves Bold" panose="02000003020000060003"/>
              <a:cs typeface="TT Hoves Bold" panose="02000003020000060003"/>
              <a:sym typeface="TT Hoves Bold" panose="02000003020000060003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4871</Words>
  <Application>WPS Presentation</Application>
  <PresentationFormat>On-screen Show (4:3)</PresentationFormat>
  <Paragraphs>150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31" baseType="lpstr">
      <vt:lpstr>Arial</vt:lpstr>
      <vt:lpstr>SimSun</vt:lpstr>
      <vt:lpstr>Wingdings</vt:lpstr>
      <vt:lpstr>Impact</vt:lpstr>
      <vt:lpstr>Oswald</vt:lpstr>
      <vt:lpstr>Times New Roman</vt:lpstr>
      <vt:lpstr>Arial</vt:lpstr>
      <vt:lpstr>Cambria Math</vt:lpstr>
      <vt:lpstr>TT Hoves Bold</vt:lpstr>
      <vt:lpstr>TT Hoves</vt:lpstr>
      <vt:lpstr>Roboto Bold</vt:lpstr>
      <vt:lpstr>Roboto</vt:lpstr>
      <vt:lpstr>Calibri</vt:lpstr>
      <vt:lpstr>Microsoft YaHei</vt:lpstr>
      <vt:lpstr>Arial Unicode MS</vt:lpstr>
      <vt:lpstr>Google Sans Text</vt:lpstr>
      <vt:lpstr>Siyam Rupali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Title: Combinatorial Optimization Solver Subtitle: Part 1: Traveling Salesperson Problem (TSP) Name: [Your Name] ID/Course: [Your Details]</dc:title>
  <dc:creator/>
  <cp:lastModifiedBy>Lenovo</cp:lastModifiedBy>
  <cp:revision>6</cp:revision>
  <dcterms:created xsi:type="dcterms:W3CDTF">2006-08-16T00:00:00Z</dcterms:created>
  <dcterms:modified xsi:type="dcterms:W3CDTF">2026-04-22T07:13:15Z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96B2E0AA60444D90BCA9C6E6224668EA_12</vt:lpwstr>
  </property>
  <property fmtid="{D5CDD505-2E9C-101B-9397-08002B2CF9AE}" pid="3" name="KSOProductBuildVer">
    <vt:lpwstr>1033-12.1.0.25830</vt:lpwstr>
  </property>
</Properties>
</file>