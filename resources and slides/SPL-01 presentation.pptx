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Oswald" charset="1" panose="00000500000000000000"/>
      <p:regular r:id="rId16"/>
    </p:embeddedFont>
    <p:embeddedFont>
      <p:font typeface="TT Hoves" charset="1" panose="02000003020000060003"/>
      <p:regular r:id="rId17"/>
    </p:embeddedFont>
    <p:embeddedFont>
      <p:font typeface="TT Hoves Bold" charset="1" panose="02000003020000060003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E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5072328" y="-1099342"/>
            <a:ext cx="10863067" cy="12485684"/>
          </a:xfrm>
          <a:custGeom>
            <a:avLst/>
            <a:gdLst/>
            <a:ahLst/>
            <a:cxnLst/>
            <a:rect r="r" b="b" t="t" l="l"/>
            <a:pathLst>
              <a:path h="12485684" w="10863067">
                <a:moveTo>
                  <a:pt x="0" y="0"/>
                </a:moveTo>
                <a:lnTo>
                  <a:pt x="10863067" y="0"/>
                </a:lnTo>
                <a:lnTo>
                  <a:pt x="10863067" y="12485684"/>
                </a:lnTo>
                <a:lnTo>
                  <a:pt x="0" y="124856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16821" b="-2278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5143500"/>
            <a:ext cx="478062" cy="478062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E281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730072" y="1883970"/>
            <a:ext cx="2329715" cy="2245263"/>
          </a:xfrm>
          <a:custGeom>
            <a:avLst/>
            <a:gdLst/>
            <a:ahLst/>
            <a:cxnLst/>
            <a:rect r="r" b="b" t="t" l="l"/>
            <a:pathLst>
              <a:path h="2245263" w="2329715">
                <a:moveTo>
                  <a:pt x="0" y="0"/>
                </a:moveTo>
                <a:lnTo>
                  <a:pt x="2329715" y="0"/>
                </a:lnTo>
                <a:lnTo>
                  <a:pt x="2329715" y="2245262"/>
                </a:lnTo>
                <a:lnTo>
                  <a:pt x="0" y="22452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858656" y="6428789"/>
            <a:ext cx="2072547" cy="2190274"/>
          </a:xfrm>
          <a:custGeom>
            <a:avLst/>
            <a:gdLst/>
            <a:ahLst/>
            <a:cxnLst/>
            <a:rect r="r" b="b" t="t" l="l"/>
            <a:pathLst>
              <a:path h="2190274" w="2072547">
                <a:moveTo>
                  <a:pt x="0" y="0"/>
                </a:moveTo>
                <a:lnTo>
                  <a:pt x="2072547" y="0"/>
                </a:lnTo>
                <a:lnTo>
                  <a:pt x="2072547" y="2190274"/>
                </a:lnTo>
                <a:lnTo>
                  <a:pt x="0" y="21902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6266556" y="2342477"/>
            <a:ext cx="12021444" cy="48335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5407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Project Title: Combinatorial Optimization Solver</a:t>
            </a:r>
          </a:p>
          <a:p>
            <a:pPr algn="l">
              <a:lnSpc>
                <a:spcPts val="6590"/>
              </a:lnSpc>
            </a:pPr>
            <a:r>
              <a:rPr lang="en-US" sz="4707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Subtitle: Part 1-Traveling Salesperson Problem (TSP)</a:t>
            </a:r>
          </a:p>
          <a:p>
            <a:pPr algn="l">
              <a:lnSpc>
                <a:spcPts val="6590"/>
              </a:lnSpc>
            </a:pPr>
            <a:r>
              <a:rPr lang="en-US" sz="4707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Name:  Prottoy Paul</a:t>
            </a:r>
          </a:p>
          <a:p>
            <a:pPr algn="l">
              <a:lnSpc>
                <a:spcPts val="6590"/>
              </a:lnSpc>
            </a:pPr>
            <a:r>
              <a:rPr lang="en-US" sz="4707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Roll: 1613</a:t>
            </a:r>
          </a:p>
          <a:p>
            <a:pPr algn="l">
              <a:lnSpc>
                <a:spcPts val="6590"/>
              </a:lnSpc>
            </a:pPr>
            <a:r>
              <a:rPr lang="en-US" sz="4707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Course: SE 2105</a:t>
            </a:r>
          </a:p>
          <a:p>
            <a:pPr algn="l">
              <a:lnSpc>
                <a:spcPts val="4550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5528454" y="3676147"/>
            <a:ext cx="524570" cy="1467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47"/>
              </a:lnSpc>
            </a:pPr>
            <a:r>
              <a:rPr lang="en-US" sz="8605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x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996484" y="-161925"/>
            <a:ext cx="541040" cy="1467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47"/>
              </a:lnSpc>
            </a:pPr>
            <a:r>
              <a:rPr lang="en-US" sz="8605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266556" y="7419151"/>
            <a:ext cx="12021444" cy="919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5407">
                <a:solidFill>
                  <a:srgbClr val="000000"/>
                </a:solidFill>
                <a:latin typeface="Oswald"/>
                <a:ea typeface="Oswald"/>
                <a:cs typeface="Oswald"/>
                <a:sym typeface="Oswald"/>
              </a:rPr>
              <a:t>Supervisor: Shah Mostafa Khaled , PhD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EE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353190" y="-2270431"/>
            <a:ext cx="5321352" cy="5395541"/>
          </a:xfrm>
          <a:custGeom>
            <a:avLst/>
            <a:gdLst/>
            <a:ahLst/>
            <a:cxnLst/>
            <a:rect r="r" b="b" t="t" l="l"/>
            <a:pathLst>
              <a:path h="5395541" w="5321352">
                <a:moveTo>
                  <a:pt x="0" y="0"/>
                </a:moveTo>
                <a:lnTo>
                  <a:pt x="5321352" y="0"/>
                </a:lnTo>
                <a:lnTo>
                  <a:pt x="5321352" y="5395541"/>
                </a:lnTo>
                <a:lnTo>
                  <a:pt x="0" y="53955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240433" y="1955492"/>
            <a:ext cx="16018867" cy="7737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Goal: Solve complex math problems using code.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Current Status: TSP Solver (Completed).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Next Phase: 0/1 Knapsack Solver (Upcoming).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Languages Used: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Java: For the User Interface (UI).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C Language: For the fast calculations (Backend).</a:t>
            </a:r>
          </a:p>
          <a:p>
            <a:pPr algn="l">
              <a:lnSpc>
                <a:spcPts val="7699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478145" y="468350"/>
            <a:ext cx="16781155" cy="13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b="true" sz="80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Project Overview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4EE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40433" y="2492375"/>
            <a:ext cx="16018867" cy="676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Question: "How to visit N cities and return home using the shortest path?"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The Challenge: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10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 Cities = 180,000 paths.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12 Cities = 479 Million paths.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20 Cities = Impossible for normal computers.</a:t>
            </a:r>
          </a:p>
          <a:p>
            <a:pPr algn="l">
              <a:lnSpc>
                <a:spcPts val="7699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478145" y="468350"/>
            <a:ext cx="16781155" cy="13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b="true" sz="80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T</a:t>
            </a:r>
            <a:r>
              <a:rPr lang="en-US" b="true" sz="80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he Problem (TSP)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4EE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40433" y="2492375"/>
            <a:ext cx="16018867" cy="676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Type: Exact Algorithm.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Acc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uracy: 100% (Perfect Solution).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How it works: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Uses a "Lower Bound" to guess the cost.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Pruni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ng: If a path looks expensive, it cuts it off immediately.</a:t>
            </a:r>
          </a:p>
          <a:p>
            <a:pPr algn="l">
              <a:lnSpc>
                <a:spcPts val="7699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478145" y="468350"/>
            <a:ext cx="16781155" cy="13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b="true" sz="80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Algorit</a:t>
            </a:r>
            <a:r>
              <a:rPr lang="en-US" b="true" sz="80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hm 1 - Branch and Bound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4EE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78145" y="3177298"/>
            <a:ext cx="8390578" cy="5270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2"/>
              </a:lnSpc>
            </a:pPr>
            <a:r>
              <a:rPr lang="en-US" sz="3473" b="true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Pros (Advantages):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✅ Guaranteed Optimality: It always finds the mathematically perfect Global Minimum.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✅ Deterministic: If you run it 100 times, you get the exact same result 100 times.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✅ Simplicity: No complex parameters to tune (unlike AI algorithms).</a:t>
            </a:r>
          </a:p>
          <a:p>
            <a:pPr algn="l">
              <a:lnSpc>
                <a:spcPts val="3182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478145" y="468350"/>
            <a:ext cx="16781155" cy="13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b="true" sz="80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Algorithmic Analysis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144000" y="3177298"/>
            <a:ext cx="8390578" cy="5880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2"/>
              </a:lnSpc>
            </a:pPr>
            <a:r>
              <a:rPr lang="en-US" sz="3473" b="true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Cons (Disadvantages):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❌ Exponential Time (): Adding just 1 city multiplies the calculation time enormously.</a:t>
            </a: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.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❌ High Memory Usage: It creates millions of tree nodes, which can fill up RAM and crash the system.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❌ Not Scalable: It is practically impossible to use for  on standard laptops.</a:t>
            </a:r>
          </a:p>
          <a:p>
            <a:pPr algn="l">
              <a:lnSpc>
                <a:spcPts val="4862"/>
              </a:lnSpc>
            </a:pPr>
          </a:p>
          <a:p>
            <a:pPr algn="l">
              <a:lnSpc>
                <a:spcPts val="3182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4EE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40433" y="2202597"/>
            <a:ext cx="16018867" cy="676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Type: Heuristic (Approximation).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Inspi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ration: Real ants finding food.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Why u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se it?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Branch and Bound is too slow for 50+ cities.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Ant Colony is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 fast.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Key Concept: Pheromones (Scent trails).</a:t>
            </a:r>
          </a:p>
          <a:p>
            <a:pPr algn="l">
              <a:lnSpc>
                <a:spcPts val="7699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-434667" y="314327"/>
            <a:ext cx="19157333" cy="128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  <a:spcBef>
                <a:spcPct val="0"/>
              </a:spcBef>
            </a:pPr>
            <a:r>
              <a:rPr lang="en-US" b="true" sz="75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Algorit</a:t>
            </a:r>
            <a:r>
              <a:rPr lang="en-US" b="true" sz="75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hm 2 - Ant Colony Optimization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4EE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-434667" y="314327"/>
            <a:ext cx="19157333" cy="128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  <a:spcBef>
                <a:spcPct val="0"/>
              </a:spcBef>
            </a:pPr>
            <a:r>
              <a:rPr lang="en-US" b="true" sz="75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Algorithmic Analysis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78145" y="2257061"/>
            <a:ext cx="8390578" cy="46609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2"/>
              </a:lnSpc>
            </a:pPr>
            <a:r>
              <a:rPr lang="en-US" sz="3473" b="true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Pros (Advantages):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✅ Highly Scalable: Can solve large problems () in seconds.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✅ Fast Convergence: Polynomial Time (). It finds good paths almost instantly.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✅ Adaptive: The "Pheromone" system allows it to learn and escape local traps.</a:t>
            </a:r>
          </a:p>
          <a:p>
            <a:pPr algn="l">
              <a:lnSpc>
                <a:spcPts val="3182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9144000" y="2257061"/>
            <a:ext cx="8390578" cy="6489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62"/>
              </a:lnSpc>
            </a:pPr>
            <a:r>
              <a:rPr lang="en-US" sz="3473" b="true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Cons (Disadvantages):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⚠️ Approximate Solution: It does not guarantee the perfect answer (usually 98-99% accurate).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⚠️ Probabilistic: Different runs can give slightly different results due to randomness..</a:t>
            </a:r>
          </a:p>
          <a:p>
            <a:pPr algn="l">
              <a:lnSpc>
                <a:spcPts val="4862"/>
              </a:lnSpc>
            </a:pPr>
            <a:r>
              <a:rPr lang="en-US" sz="3473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⚠️ Complex Tuning: Requires careful tuning of parameters (Alpha, Beta, Evaporation) to work well.</a:t>
            </a:r>
          </a:p>
          <a:p>
            <a:pPr algn="l">
              <a:lnSpc>
                <a:spcPts val="3182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4EE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40433" y="2202597"/>
            <a:ext cx="16018867" cy="6765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Table: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Sm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all Input (N=12): Branch &amp; Bound is better (100% Accurate).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Large Input (N=20+): Ant Colony is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 better (Does not crash).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Trade-off: Speed vs. Accuracy.</a:t>
            </a:r>
          </a:p>
          <a:p>
            <a:pPr algn="l">
              <a:lnSpc>
                <a:spcPts val="7699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-434667" y="314327"/>
            <a:ext cx="19157333" cy="128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  <a:spcBef>
                <a:spcPct val="0"/>
              </a:spcBef>
            </a:pPr>
            <a:r>
              <a:rPr lang="en-US" b="true" sz="75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Compariso</a:t>
            </a:r>
            <a:r>
              <a:rPr lang="en-US" b="true" sz="75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n (My Result)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4EE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40433" y="2202597"/>
            <a:ext cx="16018867" cy="7737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Status: Upcoming (Phase 2).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Problem: 0/1 Knapsack.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Goal: Select items to maximize profit without breaking the bag.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Plan: Implement using Branch &amp; Bound and Dynamic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 Programming (DP) in the same C backend.</a:t>
            </a:r>
          </a:p>
          <a:p>
            <a:pPr algn="l">
              <a:lnSpc>
                <a:spcPts val="7699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-434667" y="314327"/>
            <a:ext cx="19157333" cy="128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  <a:spcBef>
                <a:spcPct val="0"/>
              </a:spcBef>
            </a:pPr>
            <a:r>
              <a:rPr lang="en-US" b="true" sz="75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Future Work</a:t>
            </a:r>
            <a:r>
              <a:rPr lang="en-US" b="true" sz="75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 (The Knapsack Problem)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4EE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40433" y="2202597"/>
            <a:ext cx="16018867" cy="579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Summary: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TS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P Solved successfully.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Comparison of Exact vs.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 Heuristic done.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Ready</a:t>
            </a: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 for Phase 2 (Knapsack).</a:t>
            </a:r>
          </a:p>
          <a:p>
            <a:pPr algn="l" marL="1187449" indent="-593725" lvl="1">
              <a:lnSpc>
                <a:spcPts val="7699"/>
              </a:lnSpc>
              <a:buFont typeface="Arial"/>
              <a:buChar char="•"/>
            </a:pPr>
            <a:r>
              <a:rPr lang="en-US" sz="5499">
                <a:solidFill>
                  <a:srgbClr val="171C24"/>
                </a:solidFill>
                <a:latin typeface="TT Hoves"/>
                <a:ea typeface="TT Hoves"/>
                <a:cs typeface="TT Hoves"/>
                <a:sym typeface="TT Hoves"/>
              </a:rPr>
              <a:t>Thank You!</a:t>
            </a:r>
          </a:p>
          <a:p>
            <a:pPr algn="l">
              <a:lnSpc>
                <a:spcPts val="7699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-434667" y="314327"/>
            <a:ext cx="19157333" cy="12858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0"/>
              </a:lnSpc>
              <a:spcBef>
                <a:spcPct val="0"/>
              </a:spcBef>
            </a:pPr>
            <a:r>
              <a:rPr lang="en-US" b="true" sz="7500">
                <a:solidFill>
                  <a:srgbClr val="171C24"/>
                </a:solidFill>
                <a:latin typeface="TT Hoves Bold"/>
                <a:ea typeface="TT Hoves Bold"/>
                <a:cs typeface="TT Hoves Bold"/>
                <a:sym typeface="TT Hoves Bold"/>
              </a:rPr>
              <a:t>Conclusion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DAG-aNYhhPU</dc:identifier>
  <dcterms:modified xsi:type="dcterms:W3CDTF">2011-08-01T06:04:30Z</dcterms:modified>
  <cp:revision>1</cp:revision>
  <dc:title>Project Title: Combinatorial Optimization Solver Subtitle: Part 1: Traveling Salesperson Problem (TSP) Name: [Your Name] ID/Course: [Your Details]</dc:title>
</cp:coreProperties>
</file>